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21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61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8288000" cy="10287000"/>
  <p:notesSz cx="6858000" cy="9144000"/>
  <p:embeddedFontLst>
    <p:embeddedFont>
      <p:font typeface="K2D Bold" panose="00000800000000000000"/>
      <p:bold r:id="rId37"/>
    </p:embeddedFont>
    <p:embeddedFont>
      <p:font typeface="Arimo" panose="020B0604020202020204"/>
      <p:regular r:id="rId38"/>
    </p:embeddedFont>
    <p:embeddedFont>
      <p:font typeface="K2D" panose="00000500000000000000"/>
      <p:regular r:id="rId39"/>
    </p:embeddedFont>
    <p:embeddedFont>
      <p:font typeface="Montserrat Bold" panose="00000800000000000000"/>
      <p:bold r:id="rId40"/>
    </p:embeddedFont>
    <p:embeddedFont>
      <p:font typeface="Noto Sans Bold" panose="020B0802040504020204"/>
      <p:bold r:id="rId41"/>
    </p:embeddedFont>
    <p:embeddedFont>
      <p:font typeface="Calibri" panose="020F0502020204030204" charset="0"/>
      <p:regular r:id="rId42"/>
      <p:bold r:id="rId43"/>
      <p:italic r:id="rId44"/>
      <p:boldItalic r:id="rId45"/>
    </p:embeddedFont>
    <p:embeddedFont>
      <p:font typeface="Montserrat" panose="00000500000000000000"/>
      <p:regular r:id="rId46"/>
      <p:bold r:id="rId47"/>
      <p:italic r:id="rId48"/>
      <p:boldItalic r:id="rId49"/>
    </p:embeddedFont>
    <p:embeddedFont>
      <p:font typeface="Calibri" panose="020F0502020204030204"/>
      <p:regular r:id="rId50"/>
      <p:bold r:id="rId51"/>
      <p:italic r:id="rId52"/>
      <p:boldItalic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font" Target="fonts/font17.fntdata"/><Relationship Id="rId52" Type="http://schemas.openxmlformats.org/officeDocument/2006/relationships/font" Target="fonts/font16.fntdata"/><Relationship Id="rId51" Type="http://schemas.openxmlformats.org/officeDocument/2006/relationships/font" Target="fonts/font15.fntdata"/><Relationship Id="rId50" Type="http://schemas.openxmlformats.org/officeDocument/2006/relationships/font" Target="fonts/font14.fntdata"/><Relationship Id="rId5" Type="http://schemas.openxmlformats.org/officeDocument/2006/relationships/slide" Target="slides/slide3.xml"/><Relationship Id="rId49" Type="http://schemas.openxmlformats.org/officeDocument/2006/relationships/font" Target="fonts/font13.fntdata"/><Relationship Id="rId48" Type="http://schemas.openxmlformats.org/officeDocument/2006/relationships/font" Target="fonts/font12.fntdata"/><Relationship Id="rId47" Type="http://schemas.openxmlformats.org/officeDocument/2006/relationships/font" Target="fonts/font11.fntdata"/><Relationship Id="rId46" Type="http://schemas.openxmlformats.org/officeDocument/2006/relationships/font" Target="fonts/font10.fntdata"/><Relationship Id="rId45" Type="http://schemas.openxmlformats.org/officeDocument/2006/relationships/font" Target="fonts/font9.fntdata"/><Relationship Id="rId44" Type="http://schemas.openxmlformats.org/officeDocument/2006/relationships/font" Target="fonts/font8.fntdata"/><Relationship Id="rId43" Type="http://schemas.openxmlformats.org/officeDocument/2006/relationships/font" Target="fonts/font7.fntdata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slide" Target="slides/slide2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.jpeg"/><Relationship Id="rId7" Type="http://schemas.openxmlformats.org/officeDocument/2006/relationships/image" Target="../media/image13.svg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svg"/><Relationship Id="rId8" Type="http://schemas.openxmlformats.org/officeDocument/2006/relationships/image" Target="../media/image38.png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9.svg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9" Type="http://schemas.openxmlformats.org/officeDocument/2006/relationships/image" Target="../media/image49.svg"/><Relationship Id="rId18" Type="http://schemas.openxmlformats.org/officeDocument/2006/relationships/image" Target="../media/image48.png"/><Relationship Id="rId17" Type="http://schemas.openxmlformats.org/officeDocument/2006/relationships/image" Target="../media/image47.svg"/><Relationship Id="rId16" Type="http://schemas.openxmlformats.org/officeDocument/2006/relationships/image" Target="../media/image46.png"/><Relationship Id="rId15" Type="http://schemas.openxmlformats.org/officeDocument/2006/relationships/image" Target="../media/image45.png"/><Relationship Id="rId14" Type="http://schemas.openxmlformats.org/officeDocument/2006/relationships/image" Target="../media/image44.png"/><Relationship Id="rId13" Type="http://schemas.openxmlformats.org/officeDocument/2006/relationships/image" Target="../media/image43.png"/><Relationship Id="rId12" Type="http://schemas.openxmlformats.org/officeDocument/2006/relationships/image" Target="../media/image42.png"/><Relationship Id="rId11" Type="http://schemas.openxmlformats.org/officeDocument/2006/relationships/image" Target="../media/image41.svg"/><Relationship Id="rId10" Type="http://schemas.openxmlformats.org/officeDocument/2006/relationships/image" Target="../media/image40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0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oleObject" Target="../embeddings/oleObject1.bin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15.png"/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5.e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6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7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8.jpe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jpe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1.png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jpeg"/><Relationship Id="rId8" Type="http://schemas.microsoft.com/office/2007/relationships/media" Target="../media/media2.mp4"/><Relationship Id="rId7" Type="http://schemas.openxmlformats.org/officeDocument/2006/relationships/video" Target="../media/media2.mp4"/><Relationship Id="rId6" Type="http://schemas.openxmlformats.org/officeDocument/2006/relationships/image" Target="../media/image72.jpeg"/><Relationship Id="rId5" Type="http://schemas.microsoft.com/office/2007/relationships/media" Target="../media/media1.mp4"/><Relationship Id="rId4" Type="http://schemas.openxmlformats.org/officeDocument/2006/relationships/video" Target="../media/media1.mp4"/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svg"/><Relationship Id="rId6" Type="http://schemas.openxmlformats.org/officeDocument/2006/relationships/image" Target="../media/image15.png"/><Relationship Id="rId5" Type="http://schemas.openxmlformats.org/officeDocument/2006/relationships/image" Target="../media/image5.svg"/><Relationship Id="rId4" Type="http://schemas.openxmlformats.org/officeDocument/2006/relationships/image" Target="../media/image75.png"/><Relationship Id="rId3" Type="http://schemas.openxmlformats.org/officeDocument/2006/relationships/image" Target="../media/image3.svg"/><Relationship Id="rId2" Type="http://schemas.openxmlformats.org/officeDocument/2006/relationships/image" Target="../media/image74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6" Type="http://schemas.openxmlformats.org/officeDocument/2006/relationships/image" Target="../media/image76.png"/><Relationship Id="rId5" Type="http://schemas.openxmlformats.org/officeDocument/2006/relationships/image" Target="../media/image5.svg"/><Relationship Id="rId4" Type="http://schemas.openxmlformats.org/officeDocument/2006/relationships/image" Target="../media/image75.png"/><Relationship Id="rId3" Type="http://schemas.openxmlformats.org/officeDocument/2006/relationships/image" Target="../media/image3.svg"/><Relationship Id="rId2" Type="http://schemas.openxmlformats.org/officeDocument/2006/relationships/image" Target="../media/image7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82284" y="596065"/>
            <a:ext cx="2136366" cy="2136771"/>
          </a:xfrm>
          <a:custGeom>
            <a:avLst/>
            <a:gdLst/>
            <a:ahLst/>
            <a:cxnLst/>
            <a:rect l="l" t="t" r="r" b="b"/>
            <a:pathLst>
              <a:path w="2136366" h="2136771">
                <a:moveTo>
                  <a:pt x="0" y="0"/>
                </a:moveTo>
                <a:lnTo>
                  <a:pt x="2136366" y="0"/>
                </a:lnTo>
                <a:lnTo>
                  <a:pt x="2136366" y="2136771"/>
                </a:lnTo>
                <a:lnTo>
                  <a:pt x="0" y="213677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27ACE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7604547" y="4660459"/>
            <a:ext cx="3291840" cy="47625"/>
            <a:chOff x="0" y="0"/>
            <a:chExt cx="4389120" cy="63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63500"/>
            </a:xfrm>
            <a:custGeom>
              <a:avLst/>
              <a:gdLst/>
              <a:ahLst/>
              <a:cxnLst/>
              <a:rect l="l" t="t" r="r" b="b"/>
              <a:pathLst>
                <a:path w="4389120" h="63500">
                  <a:moveTo>
                    <a:pt x="0" y="0"/>
                  </a:moveTo>
                  <a:lnTo>
                    <a:pt x="4389120" y="0"/>
                  </a:lnTo>
                  <a:lnTo>
                    <a:pt x="438912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17614077" y="1773383"/>
            <a:ext cx="1347845" cy="2805454"/>
            <a:chOff x="0" y="0"/>
            <a:chExt cx="1797127" cy="3740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97127" cy="1797127"/>
            </a:xfrm>
            <a:custGeom>
              <a:avLst/>
              <a:gdLst/>
              <a:ahLst/>
              <a:cxnLst/>
              <a:rect l="l" t="t" r="r" b="b"/>
              <a:pathLst>
                <a:path w="1797127" h="1797127">
                  <a:moveTo>
                    <a:pt x="0" y="0"/>
                  </a:moveTo>
                  <a:lnTo>
                    <a:pt x="1797127" y="0"/>
                  </a:lnTo>
                  <a:lnTo>
                    <a:pt x="1797127" y="1797127"/>
                  </a:lnTo>
                  <a:lnTo>
                    <a:pt x="0" y="179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1943479"/>
              <a:ext cx="1797127" cy="1797127"/>
            </a:xfrm>
            <a:custGeom>
              <a:avLst/>
              <a:gdLst/>
              <a:ahLst/>
              <a:cxnLst/>
              <a:rect l="l" t="t" r="r" b="b"/>
              <a:pathLst>
                <a:path w="1797127" h="1797127">
                  <a:moveTo>
                    <a:pt x="0" y="0"/>
                  </a:moveTo>
                  <a:lnTo>
                    <a:pt x="1797127" y="0"/>
                  </a:lnTo>
                  <a:lnTo>
                    <a:pt x="1797127" y="1797127"/>
                  </a:lnTo>
                  <a:lnTo>
                    <a:pt x="0" y="179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885834" y="9847129"/>
            <a:ext cx="2041767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657600" y="3086100"/>
            <a:ext cx="12035790" cy="68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BÁO CÁO LUẬN VĂN TỐT NGHIỆP ĐẠI HỌC</a:t>
            </a:r>
            <a:endParaRPr lang="en-US" sz="3800">
              <a:solidFill>
                <a:srgbClr val="FFFFFF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772660" y="3756025"/>
            <a:ext cx="8862060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 spc="-63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Ngành Khoa học máy tính</a:t>
            </a:r>
            <a:endParaRPr lang="en-US" sz="4200" b="1" spc="-63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84575" y="5012884"/>
            <a:ext cx="16331783" cy="19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sz="4300" b="1" spc="107">
                <a:solidFill>
                  <a:srgbClr val="EDE70E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ORCHGRAPH-RAG: MÔ HÌNH ĐA TÁC TỬ ĐIỀU PHỐI BẰNG ĐỒ THỊ CHO TUYỂN DỤNG THÔNG MINH VÀ TRUY XUẤT </a:t>
            </a:r>
            <a:endParaRPr lang="en-US" sz="4300" b="1" spc="107">
              <a:solidFill>
                <a:srgbClr val="EDE70E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ctr">
              <a:lnSpc>
                <a:spcPts val="5160"/>
              </a:lnSpc>
            </a:pPr>
            <a:r>
              <a:rPr lang="en-US" sz="4300" b="1" spc="107">
                <a:solidFill>
                  <a:srgbClr val="EDE70E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TRI THỨC CÁ NHÂN HÓA</a:t>
            </a:r>
            <a:endParaRPr lang="en-US" sz="4300" b="1" spc="107">
              <a:solidFill>
                <a:srgbClr val="EDE70E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928444" y="7225368"/>
            <a:ext cx="418004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CCFFF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Giảng viên hướng dẫn: </a:t>
            </a:r>
            <a:endParaRPr lang="en-US" sz="3200">
              <a:solidFill>
                <a:srgbClr val="CCFFFF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CC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TS. Mã Trường Thành</a:t>
            </a:r>
            <a:r>
              <a:rPr lang="en-US" sz="3200">
                <a:solidFill>
                  <a:srgbClr val="CCFFF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 </a:t>
            </a:r>
            <a:endParaRPr lang="en-US" sz="3200">
              <a:solidFill>
                <a:srgbClr val="CCFFFF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8" name="Freeform 18"/>
          <p:cNvSpPr/>
          <p:nvPr/>
        </p:nvSpPr>
        <p:spPr>
          <a:xfrm rot="5400000">
            <a:off x="526019" y="1645588"/>
            <a:ext cx="1570879" cy="565516"/>
          </a:xfrm>
          <a:custGeom>
            <a:avLst/>
            <a:gdLst/>
            <a:ahLst/>
            <a:cxnLst/>
            <a:rect l="l" t="t" r="r" b="b"/>
            <a:pathLst>
              <a:path w="1570879" h="565516">
                <a:moveTo>
                  <a:pt x="0" y="0"/>
                </a:moveTo>
                <a:lnTo>
                  <a:pt x="1570879" y="0"/>
                </a:lnTo>
                <a:lnTo>
                  <a:pt x="1570879" y="565517"/>
                </a:lnTo>
                <a:lnTo>
                  <a:pt x="0" y="565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018467" y="9935625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3"/>
                </a:lnTo>
                <a:lnTo>
                  <a:pt x="0" y="54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>
            <a:off x="11850061" y="825360"/>
            <a:ext cx="6437939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11666220" y="7225665"/>
            <a:ext cx="6263005" cy="1810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2940">
                <a:solidFill>
                  <a:srgbClr val="CCFFF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Sinh viên thực hiện: </a:t>
            </a:r>
            <a:endParaRPr lang="en-US" sz="2940">
              <a:solidFill>
                <a:srgbClr val="CCFFFF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  <a:p>
            <a:pPr algn="l">
              <a:lnSpc>
                <a:spcPts val="3530"/>
              </a:lnSpc>
            </a:pPr>
            <a:r>
              <a:rPr lang="en-US" sz="2940" b="1">
                <a:solidFill>
                  <a:srgbClr val="CC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Họ và tên: Trần Thị Hồng Ngọc</a:t>
            </a:r>
            <a:endParaRPr lang="en-US" sz="2940" b="1">
              <a:solidFill>
                <a:srgbClr val="CC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l">
              <a:lnSpc>
                <a:spcPts val="3530"/>
              </a:lnSpc>
            </a:pPr>
            <a:r>
              <a:rPr lang="en-US" sz="2940" b="1">
                <a:solidFill>
                  <a:srgbClr val="CC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MSSV: B2207546</a:t>
            </a:r>
            <a:endParaRPr lang="en-US" sz="2940" b="1">
              <a:solidFill>
                <a:srgbClr val="CC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l">
              <a:lnSpc>
                <a:spcPts val="3530"/>
              </a:lnSpc>
            </a:pPr>
            <a:r>
              <a:rPr lang="en-US" sz="2940" b="1">
                <a:solidFill>
                  <a:srgbClr val="CC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Khóa: 48</a:t>
            </a:r>
            <a:endParaRPr lang="en-US" sz="2940" b="1">
              <a:solidFill>
                <a:srgbClr val="CC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397240" y="9119235"/>
            <a:ext cx="2181225" cy="553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spc="-54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4/2026</a:t>
            </a:r>
            <a:endParaRPr lang="en-US" sz="3600" b="1" spc="-54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0">
            <a:off x="13867006" y="7166309"/>
            <a:ext cx="732775" cy="73277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29125" y="58557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NỘI DUNG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326297" y="9540338"/>
            <a:ext cx="51781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01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955435" y="7184081"/>
            <a:ext cx="51781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01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2668217" y="2076478"/>
            <a:ext cx="12245680" cy="6790073"/>
            <a:chOff x="0" y="0"/>
            <a:chExt cx="16327573" cy="9053431"/>
          </a:xfrm>
        </p:grpSpPr>
        <p:sp>
          <p:nvSpPr>
            <p:cNvPr id="21" name="Freeform 21"/>
            <p:cNvSpPr/>
            <p:nvPr/>
          </p:nvSpPr>
          <p:spPr>
            <a:xfrm>
              <a:off x="2533108" y="3514253"/>
              <a:ext cx="107011" cy="107011"/>
            </a:xfrm>
            <a:custGeom>
              <a:avLst/>
              <a:gdLst/>
              <a:ahLst/>
              <a:cxnLst/>
              <a:rect l="l" t="t" r="r" b="b"/>
              <a:pathLst>
                <a:path w="107011" h="107011">
                  <a:moveTo>
                    <a:pt x="0" y="0"/>
                  </a:moveTo>
                  <a:lnTo>
                    <a:pt x="107011" y="0"/>
                  </a:lnTo>
                  <a:lnTo>
                    <a:pt x="107011" y="107011"/>
                  </a:lnTo>
                  <a:lnTo>
                    <a:pt x="0" y="10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373128" y="8205906"/>
              <a:ext cx="107011" cy="107011"/>
            </a:xfrm>
            <a:custGeom>
              <a:avLst/>
              <a:gdLst/>
              <a:ahLst/>
              <a:cxnLst/>
              <a:rect l="l" t="t" r="r" b="b"/>
              <a:pathLst>
                <a:path w="107011" h="107011">
                  <a:moveTo>
                    <a:pt x="0" y="0"/>
                  </a:moveTo>
                  <a:lnTo>
                    <a:pt x="107011" y="0"/>
                  </a:lnTo>
                  <a:lnTo>
                    <a:pt x="107011" y="107011"/>
                  </a:lnTo>
                  <a:lnTo>
                    <a:pt x="0" y="10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3" name="Group 23"/>
            <p:cNvGrpSpPr/>
            <p:nvPr/>
          </p:nvGrpSpPr>
          <p:grpSpPr>
            <a:xfrm rot="0">
              <a:off x="1038033" y="0"/>
              <a:ext cx="15236035" cy="1234009"/>
              <a:chOff x="0" y="0"/>
              <a:chExt cx="8576323" cy="69462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576318" cy="694624"/>
              </a:xfrm>
              <a:custGeom>
                <a:avLst/>
                <a:gdLst/>
                <a:ahLst/>
                <a:cxnLst/>
                <a:rect l="l" t="t" r="r" b="b"/>
                <a:pathLst>
                  <a:path w="8576318" h="694624">
                    <a:moveTo>
                      <a:pt x="0" y="0"/>
                    </a:moveTo>
                    <a:lnTo>
                      <a:pt x="8576318" y="0"/>
                    </a:lnTo>
                    <a:lnTo>
                      <a:pt x="8576318" y="694624"/>
                    </a:lnTo>
                    <a:lnTo>
                      <a:pt x="0" y="694624"/>
                    </a:lnTo>
                    <a:close/>
                  </a:path>
                </a:pathLst>
              </a:custGeom>
              <a:solidFill>
                <a:srgbClr val="0F6FC6">
                  <a:alpha val="0"/>
                </a:srgbClr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0"/>
                <a:ext cx="8576323" cy="69462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135"/>
                  </a:lnSpc>
                </a:pPr>
                <a:r>
                  <a:rPr lang="en-US" sz="3445" b="1">
                    <a:solidFill>
                      <a:srgbClr val="000000"/>
                    </a:solidFill>
                    <a:latin typeface="K2D Bold" panose="00000800000000000000"/>
                    <a:ea typeface="K2D Bold" panose="00000800000000000000"/>
                    <a:cs typeface="K2D Bold" panose="00000800000000000000"/>
                    <a:sym typeface="K2D Bold" panose="00000800000000000000"/>
                  </a:rPr>
                  <a:t>1. Đặt vấn đề, hướng giải quyết</a:t>
                </a:r>
                <a:endParaRPr lang="en-US" sz="3445" b="1">
                  <a:solidFill>
                    <a:srgbClr val="000000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endParaRPr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0" y="86707"/>
              <a:ext cx="664905" cy="997982"/>
            </a:xfrm>
            <a:custGeom>
              <a:avLst/>
              <a:gdLst/>
              <a:ahLst/>
              <a:cxnLst/>
              <a:rect l="l" t="t" r="r" b="b"/>
              <a:pathLst>
                <a:path w="664905" h="997982">
                  <a:moveTo>
                    <a:pt x="0" y="0"/>
                  </a:moveTo>
                  <a:lnTo>
                    <a:pt x="664905" y="0"/>
                  </a:lnTo>
                  <a:lnTo>
                    <a:pt x="664905" y="997981"/>
                  </a:lnTo>
                  <a:lnTo>
                    <a:pt x="0" y="997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7" name="Group 27"/>
            <p:cNvGrpSpPr/>
            <p:nvPr/>
          </p:nvGrpSpPr>
          <p:grpSpPr>
            <a:xfrm rot="0">
              <a:off x="1038033" y="1563884"/>
              <a:ext cx="14285662" cy="1234009"/>
              <a:chOff x="0" y="0"/>
              <a:chExt cx="8041361" cy="69462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041367" cy="694624"/>
              </a:xfrm>
              <a:custGeom>
                <a:avLst/>
                <a:gdLst/>
                <a:ahLst/>
                <a:cxnLst/>
                <a:rect l="l" t="t" r="r" b="b"/>
                <a:pathLst>
                  <a:path w="8041367" h="694624">
                    <a:moveTo>
                      <a:pt x="0" y="0"/>
                    </a:moveTo>
                    <a:lnTo>
                      <a:pt x="8041367" y="0"/>
                    </a:lnTo>
                    <a:lnTo>
                      <a:pt x="8041367" y="694624"/>
                    </a:lnTo>
                    <a:lnTo>
                      <a:pt x="0" y="694624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t="-178107" b="-173032"/>
                </a:stretch>
              </a:blip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0"/>
                <a:ext cx="8041361" cy="69462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135"/>
                  </a:lnSpc>
                </a:pPr>
                <a:r>
                  <a:rPr lang="en-US" sz="3445" b="1">
                    <a:solidFill>
                      <a:srgbClr val="000000"/>
                    </a:solidFill>
                    <a:latin typeface="K2D Bold" panose="00000800000000000000"/>
                    <a:ea typeface="K2D Bold" panose="00000800000000000000"/>
                    <a:cs typeface="K2D Bold" panose="00000800000000000000"/>
                    <a:sym typeface="K2D Bold" panose="00000800000000000000"/>
                  </a:rPr>
                  <a:t>2. Phạm vi nghiên cứu và mô tả bài toán</a:t>
                </a:r>
                <a:endParaRPr lang="en-US" sz="3445" b="1">
                  <a:solidFill>
                    <a:srgbClr val="000000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endParaRPr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0" y="1650591"/>
              <a:ext cx="664905" cy="997982"/>
            </a:xfrm>
            <a:custGeom>
              <a:avLst/>
              <a:gdLst/>
              <a:ahLst/>
              <a:cxnLst/>
              <a:rect l="l" t="t" r="r" b="b"/>
              <a:pathLst>
                <a:path w="664905" h="997982">
                  <a:moveTo>
                    <a:pt x="0" y="0"/>
                  </a:moveTo>
                  <a:lnTo>
                    <a:pt x="664905" y="0"/>
                  </a:lnTo>
                  <a:lnTo>
                    <a:pt x="664905" y="997982"/>
                  </a:lnTo>
                  <a:lnTo>
                    <a:pt x="0" y="997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1" name="Group 31"/>
            <p:cNvGrpSpPr/>
            <p:nvPr/>
          </p:nvGrpSpPr>
          <p:grpSpPr>
            <a:xfrm rot="0">
              <a:off x="1021458" y="3127769"/>
              <a:ext cx="13851099" cy="1234009"/>
              <a:chOff x="0" y="0"/>
              <a:chExt cx="7796746" cy="69462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7796746" cy="694624"/>
              </a:xfrm>
              <a:custGeom>
                <a:avLst/>
                <a:gdLst/>
                <a:ahLst/>
                <a:cxnLst/>
                <a:rect l="l" t="t" r="r" b="b"/>
                <a:pathLst>
                  <a:path w="7796746" h="694624">
                    <a:moveTo>
                      <a:pt x="0" y="0"/>
                    </a:moveTo>
                    <a:lnTo>
                      <a:pt x="7796746" y="0"/>
                    </a:lnTo>
                    <a:lnTo>
                      <a:pt x="7796746" y="694624"/>
                    </a:lnTo>
                    <a:lnTo>
                      <a:pt x="0" y="694624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t="-171245" b="-166170"/>
                </a:stretch>
              </a:blip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0"/>
                <a:ext cx="7796746" cy="69462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135"/>
                  </a:lnSpc>
                </a:pPr>
                <a:r>
                  <a:rPr lang="en-US" sz="3445" b="1">
                    <a:solidFill>
                      <a:srgbClr val="000000"/>
                    </a:solidFill>
                    <a:latin typeface="K2D Bold" panose="00000800000000000000"/>
                    <a:ea typeface="K2D Bold" panose="00000800000000000000"/>
                    <a:cs typeface="K2D Bold" panose="00000800000000000000"/>
                    <a:sym typeface="K2D Bold" panose="00000800000000000000"/>
                  </a:rPr>
                  <a:t>3. Thiết kế và cài đặt hệ thống</a:t>
                </a:r>
                <a:endParaRPr lang="en-US" sz="3445" b="1">
                  <a:solidFill>
                    <a:srgbClr val="000000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endParaRPr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0" y="3267981"/>
              <a:ext cx="664905" cy="997982"/>
            </a:xfrm>
            <a:custGeom>
              <a:avLst/>
              <a:gdLst/>
              <a:ahLst/>
              <a:cxnLst/>
              <a:rect l="l" t="t" r="r" b="b"/>
              <a:pathLst>
                <a:path w="664905" h="997982">
                  <a:moveTo>
                    <a:pt x="0" y="0"/>
                  </a:moveTo>
                  <a:lnTo>
                    <a:pt x="664905" y="0"/>
                  </a:lnTo>
                  <a:lnTo>
                    <a:pt x="664905" y="997981"/>
                  </a:lnTo>
                  <a:lnTo>
                    <a:pt x="0" y="997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5" name="Group 35"/>
            <p:cNvGrpSpPr/>
            <p:nvPr/>
          </p:nvGrpSpPr>
          <p:grpSpPr>
            <a:xfrm rot="0">
              <a:off x="1021458" y="4691653"/>
              <a:ext cx="13851099" cy="1234009"/>
              <a:chOff x="0" y="0"/>
              <a:chExt cx="7796746" cy="69462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796746" cy="694624"/>
              </a:xfrm>
              <a:custGeom>
                <a:avLst/>
                <a:gdLst/>
                <a:ahLst/>
                <a:cxnLst/>
                <a:rect l="l" t="t" r="r" b="b"/>
                <a:pathLst>
                  <a:path w="7796746" h="694624">
                    <a:moveTo>
                      <a:pt x="0" y="0"/>
                    </a:moveTo>
                    <a:lnTo>
                      <a:pt x="7796746" y="0"/>
                    </a:lnTo>
                    <a:lnTo>
                      <a:pt x="7796746" y="694624"/>
                    </a:lnTo>
                    <a:lnTo>
                      <a:pt x="0" y="694624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t="-171245" b="-166170"/>
                </a:stretch>
              </a:blip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0"/>
                <a:ext cx="7796746" cy="69462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135"/>
                  </a:lnSpc>
                </a:pPr>
                <a:r>
                  <a:rPr lang="en-US" sz="3445" b="1">
                    <a:solidFill>
                      <a:srgbClr val="000000"/>
                    </a:solidFill>
                    <a:latin typeface="K2D Bold" panose="00000800000000000000"/>
                    <a:ea typeface="K2D Bold" panose="00000800000000000000"/>
                    <a:cs typeface="K2D Bold" panose="00000800000000000000"/>
                    <a:sym typeface="K2D Bold" panose="00000800000000000000"/>
                  </a:rPr>
                  <a:t>4. Kết quả và đánh giá</a:t>
                </a:r>
                <a:endParaRPr lang="en-US" sz="3445" b="1">
                  <a:solidFill>
                    <a:srgbClr val="000000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endParaRPr>
              </a:p>
            </p:txBody>
          </p:sp>
        </p:grpSp>
        <p:sp>
          <p:nvSpPr>
            <p:cNvPr id="38" name="Freeform 38"/>
            <p:cNvSpPr/>
            <p:nvPr/>
          </p:nvSpPr>
          <p:spPr>
            <a:xfrm>
              <a:off x="0" y="4778360"/>
              <a:ext cx="664905" cy="997982"/>
            </a:xfrm>
            <a:custGeom>
              <a:avLst/>
              <a:gdLst/>
              <a:ahLst/>
              <a:cxnLst/>
              <a:rect l="l" t="t" r="r" b="b"/>
              <a:pathLst>
                <a:path w="664905" h="997982">
                  <a:moveTo>
                    <a:pt x="0" y="0"/>
                  </a:moveTo>
                  <a:lnTo>
                    <a:pt x="664905" y="0"/>
                  </a:lnTo>
                  <a:lnTo>
                    <a:pt x="664905" y="997981"/>
                  </a:lnTo>
                  <a:lnTo>
                    <a:pt x="0" y="997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9" name="Group 39"/>
            <p:cNvGrpSpPr/>
            <p:nvPr/>
          </p:nvGrpSpPr>
          <p:grpSpPr>
            <a:xfrm rot="0">
              <a:off x="1091538" y="6255538"/>
              <a:ext cx="14285662" cy="1234009"/>
              <a:chOff x="0" y="0"/>
              <a:chExt cx="8041361" cy="69462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041367" cy="694624"/>
              </a:xfrm>
              <a:custGeom>
                <a:avLst/>
                <a:gdLst/>
                <a:ahLst/>
                <a:cxnLst/>
                <a:rect l="l" t="t" r="r" b="b"/>
                <a:pathLst>
                  <a:path w="8041367" h="694624">
                    <a:moveTo>
                      <a:pt x="0" y="0"/>
                    </a:moveTo>
                    <a:lnTo>
                      <a:pt x="8041367" y="0"/>
                    </a:lnTo>
                    <a:lnTo>
                      <a:pt x="8041367" y="694624"/>
                    </a:lnTo>
                    <a:lnTo>
                      <a:pt x="0" y="694624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t="-178107" b="-173032"/>
                </a:stretch>
              </a:blip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0"/>
                <a:ext cx="8041361" cy="69462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135"/>
                  </a:lnSpc>
                </a:pPr>
                <a:r>
                  <a:rPr lang="en-US" sz="3445" b="1">
                    <a:solidFill>
                      <a:srgbClr val="000000"/>
                    </a:solidFill>
                    <a:latin typeface="K2D Bold" panose="00000800000000000000"/>
                    <a:ea typeface="K2D Bold" panose="00000800000000000000"/>
                    <a:cs typeface="K2D Bold" panose="00000800000000000000"/>
                    <a:sym typeface="K2D Bold" panose="00000800000000000000"/>
                  </a:rPr>
                  <a:t>5. Kết luận và hướng phát triển</a:t>
                </a:r>
                <a:endParaRPr lang="en-US" sz="3445" b="1">
                  <a:solidFill>
                    <a:srgbClr val="000000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endParaRPr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0" y="6342244"/>
              <a:ext cx="664905" cy="997982"/>
            </a:xfrm>
            <a:custGeom>
              <a:avLst/>
              <a:gdLst/>
              <a:ahLst/>
              <a:cxnLst/>
              <a:rect l="l" t="t" r="r" b="b"/>
              <a:pathLst>
                <a:path w="664905" h="997982">
                  <a:moveTo>
                    <a:pt x="0" y="0"/>
                  </a:moveTo>
                  <a:lnTo>
                    <a:pt x="664905" y="0"/>
                  </a:lnTo>
                  <a:lnTo>
                    <a:pt x="664905" y="997982"/>
                  </a:lnTo>
                  <a:lnTo>
                    <a:pt x="0" y="997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3" name="Group 43"/>
            <p:cNvGrpSpPr/>
            <p:nvPr/>
          </p:nvGrpSpPr>
          <p:grpSpPr>
            <a:xfrm rot="0">
              <a:off x="1091538" y="7819422"/>
              <a:ext cx="15236035" cy="1234009"/>
              <a:chOff x="0" y="0"/>
              <a:chExt cx="8576323" cy="69462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576318" cy="694624"/>
              </a:xfrm>
              <a:custGeom>
                <a:avLst/>
                <a:gdLst/>
                <a:ahLst/>
                <a:cxnLst/>
                <a:rect l="l" t="t" r="r" b="b"/>
                <a:pathLst>
                  <a:path w="8576318" h="694624">
                    <a:moveTo>
                      <a:pt x="0" y="0"/>
                    </a:moveTo>
                    <a:lnTo>
                      <a:pt x="8576318" y="0"/>
                    </a:lnTo>
                    <a:lnTo>
                      <a:pt x="8576318" y="694624"/>
                    </a:lnTo>
                    <a:lnTo>
                      <a:pt x="0" y="694624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t="-193113" b="-188038"/>
                </a:stretch>
              </a:blip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0"/>
                <a:ext cx="8576323" cy="69462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135"/>
                  </a:lnSpc>
                </a:pPr>
                <a:r>
                  <a:rPr lang="en-US" sz="3445" b="1">
                    <a:solidFill>
                      <a:srgbClr val="000000"/>
                    </a:solidFill>
                    <a:latin typeface="K2D Bold" panose="00000800000000000000"/>
                    <a:ea typeface="K2D Bold" panose="00000800000000000000"/>
                    <a:cs typeface="K2D Bold" panose="00000800000000000000"/>
                    <a:sym typeface="K2D Bold" panose="00000800000000000000"/>
                  </a:rPr>
                  <a:t>6. Demo ứng dụng</a:t>
                </a:r>
                <a:endParaRPr lang="en-US" sz="3445" b="1">
                  <a:solidFill>
                    <a:srgbClr val="000000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endParaRPr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0" y="7906129"/>
              <a:ext cx="664905" cy="997982"/>
            </a:xfrm>
            <a:custGeom>
              <a:avLst/>
              <a:gdLst/>
              <a:ahLst/>
              <a:cxnLst/>
              <a:rect l="l" t="t" r="r" b="b"/>
              <a:pathLst>
                <a:path w="664905" h="997982">
                  <a:moveTo>
                    <a:pt x="0" y="0"/>
                  </a:moveTo>
                  <a:lnTo>
                    <a:pt x="664905" y="0"/>
                  </a:lnTo>
                  <a:lnTo>
                    <a:pt x="664905" y="997981"/>
                  </a:lnTo>
                  <a:lnTo>
                    <a:pt x="0" y="997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7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NỘI DUNG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3959338" y="3820742"/>
            <a:ext cx="10369324" cy="2645516"/>
            <a:chOff x="0" y="0"/>
            <a:chExt cx="13825766" cy="3527355"/>
          </a:xfrm>
        </p:grpSpPr>
        <p:sp>
          <p:nvSpPr>
            <p:cNvPr id="6" name="AutoShape 6"/>
            <p:cNvSpPr/>
            <p:nvPr/>
          </p:nvSpPr>
          <p:spPr>
            <a:xfrm>
              <a:off x="1766520" y="3501955"/>
              <a:ext cx="5700244" cy="0"/>
            </a:xfrm>
            <a:prstGeom prst="line">
              <a:avLst/>
            </a:prstGeom>
            <a:ln w="50800" cap="flat">
              <a:solidFill>
                <a:srgbClr val="1F5CA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0" y="0"/>
              <a:ext cx="1306615" cy="1656772"/>
              <a:chOff x="0" y="0"/>
              <a:chExt cx="251645" cy="31908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51645" cy="319083"/>
              </a:xfrm>
              <a:custGeom>
                <a:avLst/>
                <a:gdLst/>
                <a:ahLst/>
                <a:cxnLst/>
                <a:rect l="l" t="t" r="r" b="b"/>
                <a:pathLst>
                  <a:path w="251645" h="319083">
                    <a:moveTo>
                      <a:pt x="125822" y="0"/>
                    </a:moveTo>
                    <a:lnTo>
                      <a:pt x="125822" y="0"/>
                    </a:lnTo>
                    <a:cubicBezTo>
                      <a:pt x="195312" y="0"/>
                      <a:pt x="251645" y="56333"/>
                      <a:pt x="251645" y="125822"/>
                    </a:cubicBezTo>
                    <a:lnTo>
                      <a:pt x="251645" y="193260"/>
                    </a:lnTo>
                    <a:cubicBezTo>
                      <a:pt x="251645" y="262750"/>
                      <a:pt x="195312" y="319083"/>
                      <a:pt x="125822" y="319083"/>
                    </a:cubicBezTo>
                    <a:lnTo>
                      <a:pt x="125822" y="319083"/>
                    </a:lnTo>
                    <a:cubicBezTo>
                      <a:pt x="92452" y="319083"/>
                      <a:pt x="60449" y="305826"/>
                      <a:pt x="36853" y="282230"/>
                    </a:cubicBezTo>
                    <a:cubicBezTo>
                      <a:pt x="13256" y="258634"/>
                      <a:pt x="0" y="226630"/>
                      <a:pt x="0" y="193260"/>
                    </a:cubicBezTo>
                    <a:lnTo>
                      <a:pt x="0" y="125822"/>
                    </a:lnTo>
                    <a:cubicBezTo>
                      <a:pt x="0" y="92452"/>
                      <a:pt x="13256" y="60449"/>
                      <a:pt x="36853" y="36853"/>
                    </a:cubicBezTo>
                    <a:cubicBezTo>
                      <a:pt x="60449" y="13256"/>
                      <a:pt x="92452" y="0"/>
                      <a:pt x="125822" y="0"/>
                    </a:cubicBezTo>
                    <a:close/>
                  </a:path>
                </a:pathLst>
              </a:custGeom>
              <a:solidFill>
                <a:srgbClr val="1F5CAA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251645" cy="4143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800"/>
                  </a:lnSpc>
                </a:p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81468" y="-112684"/>
              <a:ext cx="690422" cy="167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00"/>
                </a:lnSpc>
              </a:pPr>
              <a:r>
                <a:rPr lang="en-US" sz="7200" b="1" spc="72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1</a:t>
              </a:r>
              <a:endParaRPr lang="en-US" sz="7200" b="1" spc="7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6520" y="-198698"/>
              <a:ext cx="12059245" cy="3501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7200" b="1" spc="72">
                  <a:solidFill>
                    <a:srgbClr val="1A152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ĐẶT VẤN ĐỀ, </a:t>
              </a:r>
              <a:endParaRPr lang="en-US" sz="7200" b="1" spc="72">
                <a:solidFill>
                  <a:srgbClr val="1A152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  <a:p>
              <a:pPr algn="l">
                <a:lnSpc>
                  <a:spcPts val="10800"/>
                </a:lnSpc>
              </a:pPr>
              <a:r>
                <a:rPr lang="en-US" sz="7200" b="1" spc="72">
                  <a:solidFill>
                    <a:srgbClr val="1A152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HƯỚNG GIẢI QUYẾT </a:t>
              </a:r>
              <a:endParaRPr lang="en-US" sz="7200" b="1" spc="72">
                <a:solidFill>
                  <a:srgbClr val="1A152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316759" y="9540338"/>
            <a:ext cx="536893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02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3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ĐẶT VẤN ĐỀ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14299" y="9540338"/>
            <a:ext cx="541814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03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816880" y="1693399"/>
            <a:ext cx="10513286" cy="3745358"/>
          </a:xfrm>
          <a:custGeom>
            <a:avLst/>
            <a:gdLst/>
            <a:ahLst/>
            <a:cxnLst/>
            <a:rect l="l" t="t" r="r" b="b"/>
            <a:pathLst>
              <a:path w="10513286" h="3745358">
                <a:moveTo>
                  <a:pt x="0" y="0"/>
                </a:moveTo>
                <a:lnTo>
                  <a:pt x="10513286" y="0"/>
                </a:lnTo>
                <a:lnTo>
                  <a:pt x="10513286" y="3745358"/>
                </a:lnTo>
                <a:lnTo>
                  <a:pt x="0" y="3745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1718217" y="5798509"/>
            <a:ext cx="4600500" cy="3064550"/>
          </a:xfrm>
          <a:custGeom>
            <a:avLst/>
            <a:gdLst/>
            <a:ahLst/>
            <a:cxnLst/>
            <a:rect l="l" t="t" r="r" b="b"/>
            <a:pathLst>
              <a:path w="4600500" h="3064550">
                <a:moveTo>
                  <a:pt x="0" y="0"/>
                </a:moveTo>
                <a:lnTo>
                  <a:pt x="4600500" y="0"/>
                </a:lnTo>
                <a:lnTo>
                  <a:pt x="4600500" y="3064550"/>
                </a:lnTo>
                <a:lnTo>
                  <a:pt x="0" y="3064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2119738" y="2101479"/>
            <a:ext cx="2749785" cy="2929198"/>
          </a:xfrm>
          <a:custGeom>
            <a:avLst/>
            <a:gdLst/>
            <a:ahLst/>
            <a:cxnLst/>
            <a:rect l="l" t="t" r="r" b="b"/>
            <a:pathLst>
              <a:path w="2749785" h="2929198">
                <a:moveTo>
                  <a:pt x="0" y="0"/>
                </a:moveTo>
                <a:lnTo>
                  <a:pt x="2749784" y="0"/>
                </a:lnTo>
                <a:lnTo>
                  <a:pt x="2749784" y="2929198"/>
                </a:lnTo>
                <a:lnTo>
                  <a:pt x="0" y="29291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6876973" y="5798509"/>
            <a:ext cx="7102259" cy="2920900"/>
            <a:chOff x="0" y="0"/>
            <a:chExt cx="9469679" cy="3894534"/>
          </a:xfrm>
        </p:grpSpPr>
        <p:grpSp>
          <p:nvGrpSpPr>
            <p:cNvPr id="20" name="Group 20"/>
            <p:cNvGrpSpPr/>
            <p:nvPr/>
          </p:nvGrpSpPr>
          <p:grpSpPr>
            <a:xfrm rot="0">
              <a:off x="0" y="0"/>
              <a:ext cx="9469679" cy="3894534"/>
              <a:chOff x="0" y="0"/>
              <a:chExt cx="981971" cy="40384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981971" cy="404020"/>
              </a:xfrm>
              <a:custGeom>
                <a:avLst/>
                <a:gdLst/>
                <a:ahLst/>
                <a:cxnLst/>
                <a:rect l="l" t="t" r="r" b="b"/>
                <a:pathLst>
                  <a:path w="981971" h="404020">
                    <a:moveTo>
                      <a:pt x="557541" y="0"/>
                    </a:moveTo>
                    <a:cubicBezTo>
                      <a:pt x="568312" y="0"/>
                      <a:pt x="579148" y="0"/>
                      <a:pt x="589897" y="0"/>
                    </a:cubicBezTo>
                    <a:cubicBezTo>
                      <a:pt x="675600" y="6745"/>
                      <a:pt x="729161" y="29198"/>
                      <a:pt x="753557" y="65938"/>
                    </a:cubicBezTo>
                    <a:cubicBezTo>
                      <a:pt x="896438" y="61038"/>
                      <a:pt x="997160" y="130508"/>
                      <a:pt x="937012" y="198689"/>
                    </a:cubicBezTo>
                    <a:cubicBezTo>
                      <a:pt x="958064" y="213016"/>
                      <a:pt x="975628" y="229042"/>
                      <a:pt x="981971" y="250552"/>
                    </a:cubicBezTo>
                    <a:cubicBezTo>
                      <a:pt x="981971" y="256713"/>
                      <a:pt x="981971" y="262860"/>
                      <a:pt x="981971" y="269021"/>
                    </a:cubicBezTo>
                    <a:cubicBezTo>
                      <a:pt x="963068" y="323766"/>
                      <a:pt x="881728" y="360758"/>
                      <a:pt x="748191" y="350799"/>
                    </a:cubicBezTo>
                    <a:cubicBezTo>
                      <a:pt x="713833" y="378908"/>
                      <a:pt x="652696" y="408087"/>
                      <a:pt x="557561" y="403552"/>
                    </a:cubicBezTo>
                    <a:cubicBezTo>
                      <a:pt x="508388" y="401706"/>
                      <a:pt x="474178" y="391018"/>
                      <a:pt x="444227" y="378032"/>
                    </a:cubicBezTo>
                    <a:cubicBezTo>
                      <a:pt x="412679" y="388827"/>
                      <a:pt x="378513" y="397298"/>
                      <a:pt x="329147" y="397391"/>
                    </a:cubicBezTo>
                    <a:cubicBezTo>
                      <a:pt x="214940" y="397551"/>
                      <a:pt x="138539" y="355965"/>
                      <a:pt x="136687" y="298923"/>
                    </a:cubicBezTo>
                    <a:cubicBezTo>
                      <a:pt x="63266" y="285579"/>
                      <a:pt x="13539" y="260670"/>
                      <a:pt x="0" y="218048"/>
                    </a:cubicBezTo>
                    <a:cubicBezTo>
                      <a:pt x="0" y="211887"/>
                      <a:pt x="0" y="205713"/>
                      <a:pt x="0" y="199578"/>
                    </a:cubicBezTo>
                    <a:cubicBezTo>
                      <a:pt x="14944" y="157342"/>
                      <a:pt x="61968" y="130812"/>
                      <a:pt x="140263" y="119566"/>
                    </a:cubicBezTo>
                    <a:cubicBezTo>
                      <a:pt x="135559" y="48318"/>
                      <a:pt x="292172" y="3797"/>
                      <a:pt x="420833" y="35186"/>
                    </a:cubicBezTo>
                    <a:cubicBezTo>
                      <a:pt x="451466" y="19664"/>
                      <a:pt x="494806" y="2735"/>
                      <a:pt x="5575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6030" y="38733"/>
                <a:ext cx="889911" cy="3074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2052735" y="1540882"/>
              <a:ext cx="2057196" cy="1830904"/>
            </a:xfrm>
            <a:custGeom>
              <a:avLst/>
              <a:gdLst/>
              <a:ahLst/>
              <a:cxnLst/>
              <a:rect l="l" t="t" r="r" b="b"/>
              <a:pathLst>
                <a:path w="2057196" h="1830904">
                  <a:moveTo>
                    <a:pt x="0" y="0"/>
                  </a:moveTo>
                  <a:lnTo>
                    <a:pt x="2057195" y="0"/>
                  </a:lnTo>
                  <a:lnTo>
                    <a:pt x="2057195" y="1830904"/>
                  </a:lnTo>
                  <a:lnTo>
                    <a:pt x="0" y="1830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4966309" y="1587953"/>
              <a:ext cx="1912958" cy="1783833"/>
            </a:xfrm>
            <a:custGeom>
              <a:avLst/>
              <a:gdLst/>
              <a:ahLst/>
              <a:cxnLst/>
              <a:rect l="l" t="t" r="r" b="b"/>
              <a:pathLst>
                <a:path w="1912958" h="1783833">
                  <a:moveTo>
                    <a:pt x="0" y="0"/>
                  </a:moveTo>
                  <a:lnTo>
                    <a:pt x="1912958" y="0"/>
                  </a:lnTo>
                  <a:lnTo>
                    <a:pt x="1912958" y="1783833"/>
                  </a:lnTo>
                  <a:lnTo>
                    <a:pt x="0" y="1783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697441" y="782541"/>
              <a:ext cx="6074797" cy="805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00"/>
                </a:lnSpc>
              </a:pPr>
              <a:r>
                <a:rPr lang="en-US" sz="3645" b="1">
                  <a:solidFill>
                    <a:srgbClr val="0B5395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LỌC CV THỦ CÔNG</a:t>
              </a:r>
              <a:endParaRPr lang="en-US" sz="3645" b="1">
                <a:solidFill>
                  <a:srgbClr val="0B5395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896576" y="7283159"/>
            <a:ext cx="3688629" cy="86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5"/>
              </a:lnSpc>
            </a:pPr>
            <a:r>
              <a:rPr lang="en-US" sz="2535" b="1">
                <a:solidFill>
                  <a:srgbClr val="D5303B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BỎ SÓT ỨNG VIÊN TIỀM NĂNG</a:t>
            </a:r>
            <a:endParaRPr lang="en-US" sz="2535" b="1">
              <a:solidFill>
                <a:srgbClr val="D5303B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979232" y="6420239"/>
            <a:ext cx="3688629" cy="42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5"/>
              </a:lnSpc>
            </a:pPr>
            <a:r>
              <a:rPr lang="en-US" sz="2535" b="1">
                <a:solidFill>
                  <a:srgbClr val="D5303B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TỐN THỜI GIAN</a:t>
            </a:r>
            <a:endParaRPr lang="en-US" sz="2535" b="1">
              <a:solidFill>
                <a:srgbClr val="D5303B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73334" y="585537"/>
            <a:ext cx="15941332" cy="8688026"/>
          </a:xfrm>
          <a:custGeom>
            <a:avLst/>
            <a:gdLst/>
            <a:ahLst/>
            <a:cxnLst/>
            <a:rect l="l" t="t" r="r" b="b"/>
            <a:pathLst>
              <a:path w="15941332" h="8688026">
                <a:moveTo>
                  <a:pt x="0" y="0"/>
                </a:moveTo>
                <a:lnTo>
                  <a:pt x="15941332" y="0"/>
                </a:lnTo>
                <a:lnTo>
                  <a:pt x="15941332" y="8688027"/>
                </a:lnTo>
                <a:lnTo>
                  <a:pt x="0" y="8688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29125" y="58553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HƯỚNG GIẢI QUYẾT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314299" y="9540338"/>
            <a:ext cx="541814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03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7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NỘI DUNG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2701145" y="3820742"/>
            <a:ext cx="12885710" cy="2645516"/>
            <a:chOff x="0" y="0"/>
            <a:chExt cx="17180947" cy="3527355"/>
          </a:xfrm>
        </p:grpSpPr>
        <p:sp>
          <p:nvSpPr>
            <p:cNvPr id="6" name="AutoShape 6"/>
            <p:cNvSpPr/>
            <p:nvPr/>
          </p:nvSpPr>
          <p:spPr>
            <a:xfrm>
              <a:off x="1766520" y="3501955"/>
              <a:ext cx="5700244" cy="0"/>
            </a:xfrm>
            <a:prstGeom prst="line">
              <a:avLst/>
            </a:prstGeom>
            <a:ln w="50800" cap="flat">
              <a:solidFill>
                <a:srgbClr val="1F5CA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0" y="0"/>
              <a:ext cx="1306615" cy="1656772"/>
              <a:chOff x="0" y="0"/>
              <a:chExt cx="251645" cy="31908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51645" cy="319083"/>
              </a:xfrm>
              <a:custGeom>
                <a:avLst/>
                <a:gdLst/>
                <a:ahLst/>
                <a:cxnLst/>
                <a:rect l="l" t="t" r="r" b="b"/>
                <a:pathLst>
                  <a:path w="251645" h="319083">
                    <a:moveTo>
                      <a:pt x="125822" y="0"/>
                    </a:moveTo>
                    <a:lnTo>
                      <a:pt x="125822" y="0"/>
                    </a:lnTo>
                    <a:cubicBezTo>
                      <a:pt x="195312" y="0"/>
                      <a:pt x="251645" y="56333"/>
                      <a:pt x="251645" y="125822"/>
                    </a:cubicBezTo>
                    <a:lnTo>
                      <a:pt x="251645" y="193260"/>
                    </a:lnTo>
                    <a:cubicBezTo>
                      <a:pt x="251645" y="262750"/>
                      <a:pt x="195312" y="319083"/>
                      <a:pt x="125822" y="319083"/>
                    </a:cubicBezTo>
                    <a:lnTo>
                      <a:pt x="125822" y="319083"/>
                    </a:lnTo>
                    <a:cubicBezTo>
                      <a:pt x="92452" y="319083"/>
                      <a:pt x="60449" y="305826"/>
                      <a:pt x="36853" y="282230"/>
                    </a:cubicBezTo>
                    <a:cubicBezTo>
                      <a:pt x="13256" y="258634"/>
                      <a:pt x="0" y="226630"/>
                      <a:pt x="0" y="193260"/>
                    </a:cubicBezTo>
                    <a:lnTo>
                      <a:pt x="0" y="125822"/>
                    </a:lnTo>
                    <a:cubicBezTo>
                      <a:pt x="0" y="92452"/>
                      <a:pt x="13256" y="60449"/>
                      <a:pt x="36853" y="36853"/>
                    </a:cubicBezTo>
                    <a:cubicBezTo>
                      <a:pt x="60449" y="13256"/>
                      <a:pt x="92452" y="0"/>
                      <a:pt x="125822" y="0"/>
                    </a:cubicBezTo>
                    <a:close/>
                  </a:path>
                </a:pathLst>
              </a:custGeom>
              <a:solidFill>
                <a:srgbClr val="1F5CAA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251645" cy="4143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800"/>
                  </a:lnSpc>
                </a:p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08097" y="-209550"/>
              <a:ext cx="690422" cy="167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00"/>
                </a:lnSpc>
              </a:pPr>
              <a:r>
                <a:rPr lang="en-US" sz="7200" b="1" spc="72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2</a:t>
              </a:r>
              <a:endParaRPr lang="en-US" sz="7200" b="1" spc="7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6520" y="-198698"/>
              <a:ext cx="15414427" cy="3501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7200" b="1" spc="72">
                  <a:solidFill>
                    <a:srgbClr val="1A152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PHẠM VI NGHIÊN CỨU VÀ </a:t>
              </a:r>
              <a:endParaRPr lang="en-US" sz="7200" b="1" spc="72">
                <a:solidFill>
                  <a:srgbClr val="1A152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  <a:p>
              <a:pPr algn="l">
                <a:lnSpc>
                  <a:spcPts val="10800"/>
                </a:lnSpc>
              </a:pPr>
              <a:r>
                <a:rPr lang="en-US" sz="7200" b="1" spc="72">
                  <a:solidFill>
                    <a:srgbClr val="1A152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MÔ TẢ BÀI TOÁN </a:t>
              </a:r>
              <a:endParaRPr lang="en-US" sz="7200" b="1" spc="72">
                <a:solidFill>
                  <a:srgbClr val="1A152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316753" y="9540321"/>
            <a:ext cx="536905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05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19600" y="58553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PHẠM VI NGHIÊN CỨU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11488" y="9540321"/>
            <a:ext cx="547435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06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9511931" y="2425069"/>
            <a:ext cx="7641693" cy="3525850"/>
          </a:xfrm>
          <a:custGeom>
            <a:avLst/>
            <a:gdLst/>
            <a:ahLst/>
            <a:cxnLst/>
            <a:rect l="l" t="t" r="r" b="b"/>
            <a:pathLst>
              <a:path w="7641693" h="3525850">
                <a:moveTo>
                  <a:pt x="0" y="0"/>
                </a:moveTo>
                <a:lnTo>
                  <a:pt x="7641693" y="0"/>
                </a:lnTo>
                <a:lnTo>
                  <a:pt x="7641693" y="3525850"/>
                </a:lnTo>
                <a:lnTo>
                  <a:pt x="0" y="3525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542" b="-5596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641341" y="4761850"/>
            <a:ext cx="3005318" cy="4101551"/>
          </a:xfrm>
          <a:custGeom>
            <a:avLst/>
            <a:gdLst/>
            <a:ahLst/>
            <a:cxnLst/>
            <a:rect l="l" t="t" r="r" b="b"/>
            <a:pathLst>
              <a:path w="3005318" h="4101551">
                <a:moveTo>
                  <a:pt x="0" y="0"/>
                </a:moveTo>
                <a:lnTo>
                  <a:pt x="3005318" y="0"/>
                </a:lnTo>
                <a:lnTo>
                  <a:pt x="3005318" y="4101551"/>
                </a:lnTo>
                <a:lnTo>
                  <a:pt x="0" y="41015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707741" y="4761850"/>
            <a:ext cx="1133272" cy="976031"/>
          </a:xfrm>
          <a:custGeom>
            <a:avLst/>
            <a:gdLst/>
            <a:ahLst/>
            <a:cxnLst/>
            <a:rect l="l" t="t" r="r" b="b"/>
            <a:pathLst>
              <a:path w="1133272" h="976031">
                <a:moveTo>
                  <a:pt x="0" y="0"/>
                </a:moveTo>
                <a:lnTo>
                  <a:pt x="1133272" y="0"/>
                </a:lnTo>
                <a:lnTo>
                  <a:pt x="1133272" y="976031"/>
                </a:lnTo>
                <a:lnTo>
                  <a:pt x="0" y="976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230513" y="6458997"/>
            <a:ext cx="2678408" cy="2308301"/>
          </a:xfrm>
          <a:custGeom>
            <a:avLst/>
            <a:gdLst/>
            <a:ahLst/>
            <a:cxnLst/>
            <a:rect l="l" t="t" r="r" b="b"/>
            <a:pathLst>
              <a:path w="2678408" h="2308301">
                <a:moveTo>
                  <a:pt x="0" y="0"/>
                </a:moveTo>
                <a:lnTo>
                  <a:pt x="2678409" y="0"/>
                </a:lnTo>
                <a:lnTo>
                  <a:pt x="2678409" y="2308301"/>
                </a:lnTo>
                <a:lnTo>
                  <a:pt x="0" y="23083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30373" y="2425069"/>
            <a:ext cx="5776189" cy="6342229"/>
          </a:xfrm>
          <a:custGeom>
            <a:avLst/>
            <a:gdLst/>
            <a:ahLst/>
            <a:cxnLst/>
            <a:rect l="l" t="t" r="r" b="b"/>
            <a:pathLst>
              <a:path w="5776189" h="6342229">
                <a:moveTo>
                  <a:pt x="0" y="0"/>
                </a:moveTo>
                <a:lnTo>
                  <a:pt x="5776188" y="0"/>
                </a:lnTo>
                <a:lnTo>
                  <a:pt x="5776188" y="6342229"/>
                </a:lnTo>
                <a:lnTo>
                  <a:pt x="0" y="63422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29125" y="58553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MÔ TẢ BÀI TOÁN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21667" y="9540321"/>
            <a:ext cx="527076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07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2407627" y="1536542"/>
            <a:ext cx="6374328" cy="7869945"/>
          </a:xfrm>
          <a:custGeom>
            <a:avLst/>
            <a:gdLst/>
            <a:ahLst/>
            <a:cxnLst/>
            <a:rect l="l" t="t" r="r" b="b"/>
            <a:pathLst>
              <a:path w="6374328" h="7869945">
                <a:moveTo>
                  <a:pt x="0" y="0"/>
                </a:moveTo>
                <a:lnTo>
                  <a:pt x="6374328" y="0"/>
                </a:lnTo>
                <a:lnTo>
                  <a:pt x="6374328" y="7869945"/>
                </a:lnTo>
                <a:lnTo>
                  <a:pt x="0" y="786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0" b="-270"/>
            </a:stretch>
          </a:blipFill>
        </p:spPr>
      </p:sp>
      <p:grpSp>
        <p:nvGrpSpPr>
          <p:cNvPr id="17" name="Group 17"/>
          <p:cNvGrpSpPr/>
          <p:nvPr/>
        </p:nvGrpSpPr>
        <p:grpSpPr>
          <a:xfrm rot="-5616645">
            <a:off x="5603054" y="2293281"/>
            <a:ext cx="4971152" cy="6125729"/>
            <a:chOff x="0" y="0"/>
            <a:chExt cx="1309275" cy="16133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09275" cy="1613361"/>
            </a:xfrm>
            <a:custGeom>
              <a:avLst/>
              <a:gdLst/>
              <a:ahLst/>
              <a:cxnLst/>
              <a:rect l="l" t="t" r="r" b="b"/>
              <a:pathLst>
                <a:path w="1309275" h="1613361">
                  <a:moveTo>
                    <a:pt x="654637" y="0"/>
                  </a:moveTo>
                  <a:lnTo>
                    <a:pt x="1309275" y="1613361"/>
                  </a:lnTo>
                  <a:lnTo>
                    <a:pt x="0" y="1613361"/>
                  </a:lnTo>
                  <a:lnTo>
                    <a:pt x="654637" y="0"/>
                  </a:lnTo>
                  <a:close/>
                </a:path>
              </a:pathLst>
            </a:custGeom>
            <a:solidFill>
              <a:srgbClr val="A2D5F2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4574" y="749060"/>
              <a:ext cx="900126" cy="749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185773" y="2008166"/>
            <a:ext cx="11469793" cy="6549276"/>
            <a:chOff x="0" y="0"/>
            <a:chExt cx="15293058" cy="87323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93058" cy="8732368"/>
            </a:xfrm>
            <a:custGeom>
              <a:avLst/>
              <a:gdLst/>
              <a:ahLst/>
              <a:cxnLst/>
              <a:rect l="l" t="t" r="r" b="b"/>
              <a:pathLst>
                <a:path w="15293058" h="8732368">
                  <a:moveTo>
                    <a:pt x="0" y="0"/>
                  </a:moveTo>
                  <a:lnTo>
                    <a:pt x="15293058" y="0"/>
                  </a:lnTo>
                  <a:lnTo>
                    <a:pt x="15293058" y="8732368"/>
                  </a:lnTo>
                  <a:lnTo>
                    <a:pt x="0" y="873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2" b="-25656"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 rot="0">
              <a:off x="479023" y="773702"/>
              <a:ext cx="6746224" cy="6746224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7621" r="-7621"/>
                </a:stretch>
              </a:blipFill>
            </p:spPr>
          </p:sp>
        </p:grp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7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NỘI DUNG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4165093" y="3820742"/>
            <a:ext cx="9957814" cy="2645516"/>
            <a:chOff x="0" y="0"/>
            <a:chExt cx="13277086" cy="3527355"/>
          </a:xfrm>
        </p:grpSpPr>
        <p:sp>
          <p:nvSpPr>
            <p:cNvPr id="6" name="AutoShape 6"/>
            <p:cNvSpPr/>
            <p:nvPr/>
          </p:nvSpPr>
          <p:spPr>
            <a:xfrm>
              <a:off x="1766520" y="3501955"/>
              <a:ext cx="5700244" cy="0"/>
            </a:xfrm>
            <a:prstGeom prst="line">
              <a:avLst/>
            </a:prstGeom>
            <a:ln w="50800" cap="flat">
              <a:solidFill>
                <a:srgbClr val="1F5CA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0" y="0"/>
              <a:ext cx="1306615" cy="1656772"/>
              <a:chOff x="0" y="0"/>
              <a:chExt cx="251645" cy="31908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51645" cy="319083"/>
              </a:xfrm>
              <a:custGeom>
                <a:avLst/>
                <a:gdLst/>
                <a:ahLst/>
                <a:cxnLst/>
                <a:rect l="l" t="t" r="r" b="b"/>
                <a:pathLst>
                  <a:path w="251645" h="319083">
                    <a:moveTo>
                      <a:pt x="125822" y="0"/>
                    </a:moveTo>
                    <a:lnTo>
                      <a:pt x="125822" y="0"/>
                    </a:lnTo>
                    <a:cubicBezTo>
                      <a:pt x="195312" y="0"/>
                      <a:pt x="251645" y="56333"/>
                      <a:pt x="251645" y="125822"/>
                    </a:cubicBezTo>
                    <a:lnTo>
                      <a:pt x="251645" y="193260"/>
                    </a:lnTo>
                    <a:cubicBezTo>
                      <a:pt x="251645" y="262750"/>
                      <a:pt x="195312" y="319083"/>
                      <a:pt x="125822" y="319083"/>
                    </a:cubicBezTo>
                    <a:lnTo>
                      <a:pt x="125822" y="319083"/>
                    </a:lnTo>
                    <a:cubicBezTo>
                      <a:pt x="92452" y="319083"/>
                      <a:pt x="60449" y="305826"/>
                      <a:pt x="36853" y="282230"/>
                    </a:cubicBezTo>
                    <a:cubicBezTo>
                      <a:pt x="13256" y="258634"/>
                      <a:pt x="0" y="226630"/>
                      <a:pt x="0" y="193260"/>
                    </a:cubicBezTo>
                    <a:lnTo>
                      <a:pt x="0" y="125822"/>
                    </a:lnTo>
                    <a:cubicBezTo>
                      <a:pt x="0" y="92452"/>
                      <a:pt x="13256" y="60449"/>
                      <a:pt x="36853" y="36853"/>
                    </a:cubicBezTo>
                    <a:cubicBezTo>
                      <a:pt x="60449" y="13256"/>
                      <a:pt x="92452" y="0"/>
                      <a:pt x="125822" y="0"/>
                    </a:cubicBezTo>
                    <a:close/>
                  </a:path>
                </a:pathLst>
              </a:custGeom>
              <a:solidFill>
                <a:srgbClr val="1F5CAA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251645" cy="4143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800"/>
                  </a:lnSpc>
                </a:p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08097" y="-209550"/>
              <a:ext cx="690422" cy="167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00"/>
                </a:lnSpc>
              </a:pPr>
              <a:r>
                <a:rPr lang="en-US" sz="7200" b="1" spc="72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3</a:t>
              </a:r>
              <a:endParaRPr lang="en-US" sz="7200" b="1" spc="7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6520" y="-198698"/>
              <a:ext cx="11510566" cy="3501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7200" b="1" spc="72">
                  <a:solidFill>
                    <a:srgbClr val="1A152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THIẾT KẾ VÀ </a:t>
              </a:r>
              <a:endParaRPr lang="en-US" sz="7200" b="1" spc="72">
                <a:solidFill>
                  <a:srgbClr val="1A152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  <a:p>
              <a:pPr algn="l">
                <a:lnSpc>
                  <a:spcPts val="10800"/>
                </a:lnSpc>
              </a:pPr>
              <a:r>
                <a:rPr lang="en-US" sz="7200" b="1" spc="72">
                  <a:solidFill>
                    <a:srgbClr val="1A152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CÀI ĐẶT HỆ THỐNG</a:t>
              </a:r>
              <a:endParaRPr lang="en-US" sz="7200" b="1" spc="72">
                <a:solidFill>
                  <a:srgbClr val="1A152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313313" y="9540321"/>
            <a:ext cx="543784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08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043471" y="1601726"/>
            <a:ext cx="14201058" cy="7739576"/>
          </a:xfrm>
          <a:custGeom>
            <a:avLst/>
            <a:gdLst/>
            <a:ahLst/>
            <a:cxnLst/>
            <a:rect l="l" t="t" r="r" b="b"/>
            <a:pathLst>
              <a:path w="14201058" h="7739576">
                <a:moveTo>
                  <a:pt x="0" y="0"/>
                </a:moveTo>
                <a:lnTo>
                  <a:pt x="14201058" y="0"/>
                </a:lnTo>
                <a:lnTo>
                  <a:pt x="14201058" y="7739577"/>
                </a:lnTo>
                <a:lnTo>
                  <a:pt x="0" y="7739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7319693" y="5143500"/>
            <a:ext cx="3971839" cy="397183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F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729125" y="58553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THIẾT KẾ HỆ THỐNG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311488" y="9540321"/>
            <a:ext cx="547435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09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85159" y="6701965"/>
            <a:ext cx="2640906" cy="80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2340" b="1">
                <a:solidFill>
                  <a:srgbClr val="000000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rPr>
              <a:t>GraphRAG</a:t>
            </a:r>
            <a:endParaRPr lang="en-US" sz="2340" b="1">
              <a:solidFill>
                <a:srgbClr val="000000"/>
              </a:solidFill>
              <a:latin typeface="Noto Sans Bold" panose="020B0802040504020204"/>
              <a:ea typeface="Noto Sans Bold" panose="020B0802040504020204"/>
              <a:cs typeface="Noto Sans Bold" panose="020B0802040504020204"/>
              <a:sym typeface="Noto Sans Bold" panose="020B0802040504020204"/>
            </a:endParaRPr>
          </a:p>
          <a:p>
            <a:pPr algn="ctr">
              <a:lnSpc>
                <a:spcPts val="3275"/>
              </a:lnSpc>
            </a:pPr>
            <a:r>
              <a:rPr lang="en-US" sz="2340" b="1">
                <a:solidFill>
                  <a:srgbClr val="000000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rPr>
              <a:t>Knowledge graph</a:t>
            </a:r>
            <a:endParaRPr lang="en-US" sz="2340" b="1">
              <a:solidFill>
                <a:srgbClr val="000000"/>
              </a:solidFill>
              <a:latin typeface="Noto Sans Bold" panose="020B0802040504020204"/>
              <a:ea typeface="Noto Sans Bold" panose="020B0802040504020204"/>
              <a:cs typeface="Noto Sans Bold" panose="020B0802040504020204"/>
              <a:sym typeface="Noto Sans Bold" panose="020B0802040504020204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0699" y="2545799"/>
            <a:ext cx="1878052" cy="2442781"/>
          </a:xfrm>
          <a:custGeom>
            <a:avLst/>
            <a:gdLst/>
            <a:ahLst/>
            <a:cxnLst/>
            <a:rect l="l" t="t" r="r" b="b"/>
            <a:pathLst>
              <a:path w="1878052" h="2442781">
                <a:moveTo>
                  <a:pt x="0" y="0"/>
                </a:moveTo>
                <a:lnTo>
                  <a:pt x="1878052" y="0"/>
                </a:lnTo>
                <a:lnTo>
                  <a:pt x="1878052" y="2442780"/>
                </a:lnTo>
                <a:lnTo>
                  <a:pt x="0" y="2442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4552443" y="2545799"/>
            <a:ext cx="3028195" cy="2472980"/>
            <a:chOff x="0" y="0"/>
            <a:chExt cx="4037593" cy="32973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37593" cy="3297307"/>
            </a:xfrm>
            <a:custGeom>
              <a:avLst/>
              <a:gdLst/>
              <a:ahLst/>
              <a:cxnLst/>
              <a:rect l="l" t="t" r="r" b="b"/>
              <a:pathLst>
                <a:path w="4037593" h="3297307">
                  <a:moveTo>
                    <a:pt x="0" y="0"/>
                  </a:moveTo>
                  <a:lnTo>
                    <a:pt x="4037593" y="0"/>
                  </a:lnTo>
                  <a:lnTo>
                    <a:pt x="4037593" y="3297307"/>
                  </a:lnTo>
                  <a:lnTo>
                    <a:pt x="0" y="3297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3" r="-723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400685" y="1389569"/>
              <a:ext cx="711082" cy="711082"/>
            </a:xfrm>
            <a:custGeom>
              <a:avLst/>
              <a:gdLst/>
              <a:ahLst/>
              <a:cxnLst/>
              <a:rect l="l" t="t" r="r" b="b"/>
              <a:pathLst>
                <a:path w="711082" h="711082">
                  <a:moveTo>
                    <a:pt x="0" y="0"/>
                  </a:moveTo>
                  <a:lnTo>
                    <a:pt x="711081" y="0"/>
                  </a:lnTo>
                  <a:lnTo>
                    <a:pt x="711081" y="711082"/>
                  </a:lnTo>
                  <a:lnTo>
                    <a:pt x="0" y="711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280197" y="1423399"/>
              <a:ext cx="676396" cy="643422"/>
            </a:xfrm>
            <a:custGeom>
              <a:avLst/>
              <a:gdLst/>
              <a:ahLst/>
              <a:cxnLst/>
              <a:rect l="l" t="t" r="r" b="b"/>
              <a:pathLst>
                <a:path w="676396" h="643422">
                  <a:moveTo>
                    <a:pt x="0" y="0"/>
                  </a:moveTo>
                  <a:lnTo>
                    <a:pt x="676397" y="0"/>
                  </a:lnTo>
                  <a:lnTo>
                    <a:pt x="676397" y="643422"/>
                  </a:lnTo>
                  <a:lnTo>
                    <a:pt x="0" y="643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121868" y="1460929"/>
              <a:ext cx="682370" cy="639722"/>
            </a:xfrm>
            <a:custGeom>
              <a:avLst/>
              <a:gdLst/>
              <a:ahLst/>
              <a:cxnLst/>
              <a:rect l="l" t="t" r="r" b="b"/>
              <a:pathLst>
                <a:path w="682370" h="639722">
                  <a:moveTo>
                    <a:pt x="0" y="0"/>
                  </a:moveTo>
                  <a:lnTo>
                    <a:pt x="682370" y="0"/>
                  </a:lnTo>
                  <a:lnTo>
                    <a:pt x="682370" y="639722"/>
                  </a:lnTo>
                  <a:lnTo>
                    <a:pt x="0" y="639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3061986" y="1460929"/>
              <a:ext cx="658990" cy="639722"/>
            </a:xfrm>
            <a:custGeom>
              <a:avLst/>
              <a:gdLst/>
              <a:ahLst/>
              <a:cxnLst/>
              <a:rect l="l" t="t" r="r" b="b"/>
              <a:pathLst>
                <a:path w="658990" h="639722">
                  <a:moveTo>
                    <a:pt x="0" y="0"/>
                  </a:moveTo>
                  <a:lnTo>
                    <a:pt x="658990" y="0"/>
                  </a:lnTo>
                  <a:lnTo>
                    <a:pt x="658990" y="639722"/>
                  </a:lnTo>
                  <a:lnTo>
                    <a:pt x="0" y="639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9305612" y="1758041"/>
            <a:ext cx="2246785" cy="5086780"/>
            <a:chOff x="0" y="0"/>
            <a:chExt cx="2995713" cy="678237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95713" cy="6782373"/>
            </a:xfrm>
            <a:custGeom>
              <a:avLst/>
              <a:gdLst/>
              <a:ahLst/>
              <a:cxnLst/>
              <a:rect l="l" t="t" r="r" b="b"/>
              <a:pathLst>
                <a:path w="2995713" h="6782373">
                  <a:moveTo>
                    <a:pt x="0" y="0"/>
                  </a:moveTo>
                  <a:lnTo>
                    <a:pt x="2995713" y="0"/>
                  </a:lnTo>
                  <a:lnTo>
                    <a:pt x="2995713" y="6782373"/>
                  </a:lnTo>
                  <a:lnTo>
                    <a:pt x="0" y="6782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0361" y="5700477"/>
              <a:ext cx="1154990" cy="588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75"/>
                </a:lnSpc>
              </a:pPr>
              <a:r>
                <a:rPr lang="en-US" sz="1340" b="1">
                  <a:solidFill>
                    <a:srgbClr val="000000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Đồ thị </a:t>
              </a:r>
              <a:endParaRPr lang="en-US" sz="1340" b="1">
                <a:solidFill>
                  <a:srgbClr val="000000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  <a:p>
              <a:pPr algn="ctr">
                <a:lnSpc>
                  <a:spcPts val="1875"/>
                </a:lnSpc>
              </a:pPr>
              <a:r>
                <a:rPr lang="en-US" sz="1340" b="1">
                  <a:solidFill>
                    <a:srgbClr val="000000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tri thức</a:t>
              </a:r>
              <a:endParaRPr lang="en-US" sz="1340" b="1">
                <a:solidFill>
                  <a:srgbClr val="000000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13664638" y="2149737"/>
            <a:ext cx="2947136" cy="2190757"/>
          </a:xfrm>
          <a:custGeom>
            <a:avLst/>
            <a:gdLst/>
            <a:ahLst/>
            <a:cxnLst/>
            <a:rect l="l" t="t" r="r" b="b"/>
            <a:pathLst>
              <a:path w="2947136" h="2190757">
                <a:moveTo>
                  <a:pt x="0" y="0"/>
                </a:moveTo>
                <a:lnTo>
                  <a:pt x="2947136" y="0"/>
                </a:lnTo>
                <a:lnTo>
                  <a:pt x="2947136" y="2190756"/>
                </a:lnTo>
                <a:lnTo>
                  <a:pt x="0" y="219075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>
            <a:off x="4987173" y="6217757"/>
            <a:ext cx="3255430" cy="2702007"/>
          </a:xfrm>
          <a:custGeom>
            <a:avLst/>
            <a:gdLst/>
            <a:ahLst/>
            <a:cxnLst/>
            <a:rect l="l" t="t" r="r" b="b"/>
            <a:pathLst>
              <a:path w="3255430" h="2702007">
                <a:moveTo>
                  <a:pt x="0" y="0"/>
                </a:moveTo>
                <a:lnTo>
                  <a:pt x="3255430" y="0"/>
                </a:lnTo>
                <a:lnTo>
                  <a:pt x="3255430" y="2702007"/>
                </a:lnTo>
                <a:lnTo>
                  <a:pt x="0" y="27020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id="23" name="Group 23"/>
          <p:cNvGrpSpPr/>
          <p:nvPr/>
        </p:nvGrpSpPr>
        <p:grpSpPr>
          <a:xfrm rot="0">
            <a:off x="14427455" y="5183453"/>
            <a:ext cx="1900093" cy="1900093"/>
            <a:chOff x="0" y="0"/>
            <a:chExt cx="2533457" cy="2533457"/>
          </a:xfrm>
        </p:grpSpPr>
        <p:grpSp>
          <p:nvGrpSpPr>
            <p:cNvPr id="24" name="Group 24"/>
            <p:cNvGrpSpPr/>
            <p:nvPr/>
          </p:nvGrpSpPr>
          <p:grpSpPr>
            <a:xfrm rot="0">
              <a:off x="0" y="0"/>
              <a:ext cx="2533457" cy="2533457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l="l" t="t" r="r" b="b"/>
                <a:pathLst>
                  <a:path w="5255260" h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26" name="Freeform 26"/>
            <p:cNvSpPr/>
            <p:nvPr/>
          </p:nvSpPr>
          <p:spPr>
            <a:xfrm>
              <a:off x="606516" y="523376"/>
              <a:ext cx="1320426" cy="1335450"/>
            </a:xfrm>
            <a:custGeom>
              <a:avLst/>
              <a:gdLst/>
              <a:ahLst/>
              <a:cxnLst/>
              <a:rect l="l" t="t" r="r" b="b"/>
              <a:pathLst>
                <a:path w="1320426" h="1335450">
                  <a:moveTo>
                    <a:pt x="0" y="0"/>
                  </a:moveTo>
                  <a:lnTo>
                    <a:pt x="1320426" y="0"/>
                  </a:lnTo>
                  <a:lnTo>
                    <a:pt x="1320426" y="1335450"/>
                  </a:lnTo>
                  <a:lnTo>
                    <a:pt x="0" y="1335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 rot="0">
            <a:off x="10505874" y="6940071"/>
            <a:ext cx="2452638" cy="2452638"/>
            <a:chOff x="0" y="0"/>
            <a:chExt cx="3270185" cy="3270185"/>
          </a:xfrm>
        </p:grpSpPr>
        <p:grpSp>
          <p:nvGrpSpPr>
            <p:cNvPr id="28" name="Group 28"/>
            <p:cNvGrpSpPr/>
            <p:nvPr/>
          </p:nvGrpSpPr>
          <p:grpSpPr>
            <a:xfrm rot="0">
              <a:off x="0" y="0"/>
              <a:ext cx="3270185" cy="3270185"/>
              <a:chOff x="0" y="0"/>
              <a:chExt cx="6350000" cy="6350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l="l" t="t" r="r" b="b"/>
                <a:pathLst>
                  <a:path w="5255260" h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30" name="Freeform 30"/>
            <p:cNvSpPr/>
            <p:nvPr/>
          </p:nvSpPr>
          <p:spPr>
            <a:xfrm>
              <a:off x="578870" y="813528"/>
              <a:ext cx="2112445" cy="1523601"/>
            </a:xfrm>
            <a:custGeom>
              <a:avLst/>
              <a:gdLst/>
              <a:ahLst/>
              <a:cxnLst/>
              <a:rect l="l" t="t" r="r" b="b"/>
              <a:pathLst>
                <a:path w="2112445" h="1523601">
                  <a:moveTo>
                    <a:pt x="0" y="0"/>
                  </a:moveTo>
                  <a:lnTo>
                    <a:pt x="2112445" y="0"/>
                  </a:lnTo>
                  <a:lnTo>
                    <a:pt x="2112445" y="1523601"/>
                  </a:lnTo>
                  <a:lnTo>
                    <a:pt x="0" y="1523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 rot="0">
            <a:off x="3499726" y="3514487"/>
            <a:ext cx="769077" cy="505403"/>
            <a:chOff x="0" y="0"/>
            <a:chExt cx="1048145" cy="68879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48145" cy="688795"/>
            </a:xfrm>
            <a:custGeom>
              <a:avLst/>
              <a:gdLst/>
              <a:ahLst/>
              <a:cxnLst/>
              <a:rect l="l" t="t" r="r" b="b"/>
              <a:pathLst>
                <a:path w="1048145" h="688795">
                  <a:moveTo>
                    <a:pt x="1048145" y="344397"/>
                  </a:moveTo>
                  <a:lnTo>
                    <a:pt x="641745" y="0"/>
                  </a:lnTo>
                  <a:lnTo>
                    <a:pt x="641745" y="203200"/>
                  </a:lnTo>
                  <a:lnTo>
                    <a:pt x="0" y="203200"/>
                  </a:lnTo>
                  <a:lnTo>
                    <a:pt x="0" y="485595"/>
                  </a:lnTo>
                  <a:lnTo>
                    <a:pt x="641745" y="485595"/>
                  </a:lnTo>
                  <a:lnTo>
                    <a:pt x="641745" y="688795"/>
                  </a:lnTo>
                  <a:lnTo>
                    <a:pt x="1048145" y="34439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193675"/>
              <a:ext cx="946545" cy="29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0"/>
                </a:lnSpc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 rot="0">
            <a:off x="1317968" y="6874874"/>
            <a:ext cx="1699167" cy="1699167"/>
            <a:chOff x="0" y="0"/>
            <a:chExt cx="2265556" cy="2265556"/>
          </a:xfrm>
        </p:grpSpPr>
        <p:grpSp>
          <p:nvGrpSpPr>
            <p:cNvPr id="35" name="Group 35"/>
            <p:cNvGrpSpPr/>
            <p:nvPr/>
          </p:nvGrpSpPr>
          <p:grpSpPr>
            <a:xfrm rot="0">
              <a:off x="0" y="0"/>
              <a:ext cx="2265556" cy="2265556"/>
              <a:chOff x="0" y="0"/>
              <a:chExt cx="6350000" cy="6350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l="l" t="t" r="r" b="b"/>
                <a:pathLst>
                  <a:path w="5255260" h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69777" y="868032"/>
              <a:ext cx="726002" cy="676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0"/>
                </a:lnSpc>
              </a:pPr>
              <a:r>
                <a:rPr lang="en-US" sz="3080" b="1">
                  <a:solidFill>
                    <a:srgbClr val="000000"/>
                  </a:solidFill>
                  <a:latin typeface="Noto Sans Bold" panose="020B0802040504020204"/>
                  <a:ea typeface="Noto Sans Bold" panose="020B0802040504020204"/>
                  <a:cs typeface="Noto Sans Bold" panose="020B0802040504020204"/>
                  <a:sym typeface="Noto Sans Bold" panose="020B0802040504020204"/>
                </a:rPr>
                <a:t>JD</a:t>
              </a:r>
              <a:endParaRPr lang="en-US" sz="3080" b="1">
                <a:solidFill>
                  <a:srgbClr val="000000"/>
                </a:solidFill>
                <a:latin typeface="Noto Sans Bold" panose="020B0802040504020204"/>
                <a:ea typeface="Noto Sans Bold" panose="020B0802040504020204"/>
                <a:cs typeface="Noto Sans Bold" panose="020B0802040504020204"/>
                <a:sym typeface="Noto Sans Bold" panose="020B0802040504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0">
            <a:off x="7869060" y="3529587"/>
            <a:ext cx="901397" cy="505403"/>
            <a:chOff x="0" y="0"/>
            <a:chExt cx="1228478" cy="68879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28478" cy="688795"/>
            </a:xfrm>
            <a:custGeom>
              <a:avLst/>
              <a:gdLst/>
              <a:ahLst/>
              <a:cxnLst/>
              <a:rect l="l" t="t" r="r" b="b"/>
              <a:pathLst>
                <a:path w="1228478" h="688795">
                  <a:moveTo>
                    <a:pt x="1228478" y="344397"/>
                  </a:moveTo>
                  <a:lnTo>
                    <a:pt x="822078" y="0"/>
                  </a:lnTo>
                  <a:lnTo>
                    <a:pt x="822078" y="203200"/>
                  </a:lnTo>
                  <a:lnTo>
                    <a:pt x="0" y="203200"/>
                  </a:lnTo>
                  <a:lnTo>
                    <a:pt x="0" y="485595"/>
                  </a:lnTo>
                  <a:lnTo>
                    <a:pt x="822078" y="485595"/>
                  </a:lnTo>
                  <a:lnTo>
                    <a:pt x="822078" y="688795"/>
                  </a:lnTo>
                  <a:lnTo>
                    <a:pt x="1228478" y="34439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193675"/>
              <a:ext cx="1126878" cy="29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0"/>
                </a:lnSpc>
              </a:p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1995358" y="2992413"/>
            <a:ext cx="1226319" cy="505403"/>
            <a:chOff x="0" y="0"/>
            <a:chExt cx="1671303" cy="68879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671302" cy="688795"/>
            </a:xfrm>
            <a:custGeom>
              <a:avLst/>
              <a:gdLst/>
              <a:ahLst/>
              <a:cxnLst/>
              <a:rect l="l" t="t" r="r" b="b"/>
              <a:pathLst>
                <a:path w="1671302" h="688795">
                  <a:moveTo>
                    <a:pt x="1671302" y="344397"/>
                  </a:moveTo>
                  <a:lnTo>
                    <a:pt x="1264903" y="0"/>
                  </a:lnTo>
                  <a:lnTo>
                    <a:pt x="1264903" y="203200"/>
                  </a:lnTo>
                  <a:lnTo>
                    <a:pt x="0" y="203200"/>
                  </a:lnTo>
                  <a:lnTo>
                    <a:pt x="0" y="485595"/>
                  </a:lnTo>
                  <a:lnTo>
                    <a:pt x="1264903" y="485595"/>
                  </a:lnTo>
                  <a:lnTo>
                    <a:pt x="1264903" y="688795"/>
                  </a:lnTo>
                  <a:lnTo>
                    <a:pt x="1671302" y="34439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193675"/>
              <a:ext cx="1569703" cy="29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0"/>
                </a:lnSpc>
              </a:pPr>
            </a:p>
          </p:txBody>
        </p:sp>
      </p:grpSp>
      <p:grpSp>
        <p:nvGrpSpPr>
          <p:cNvPr id="44" name="Group 44"/>
          <p:cNvGrpSpPr/>
          <p:nvPr/>
        </p:nvGrpSpPr>
        <p:grpSpPr>
          <a:xfrm rot="5400000">
            <a:off x="14784479" y="4590432"/>
            <a:ext cx="707452" cy="478591"/>
            <a:chOff x="0" y="0"/>
            <a:chExt cx="1018175" cy="68879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18175" cy="688795"/>
            </a:xfrm>
            <a:custGeom>
              <a:avLst/>
              <a:gdLst/>
              <a:ahLst/>
              <a:cxnLst/>
              <a:rect l="l" t="t" r="r" b="b"/>
              <a:pathLst>
                <a:path w="1018175" h="688795">
                  <a:moveTo>
                    <a:pt x="1018175" y="344397"/>
                  </a:moveTo>
                  <a:lnTo>
                    <a:pt x="611775" y="0"/>
                  </a:lnTo>
                  <a:lnTo>
                    <a:pt x="611775" y="203200"/>
                  </a:lnTo>
                  <a:lnTo>
                    <a:pt x="0" y="203200"/>
                  </a:lnTo>
                  <a:lnTo>
                    <a:pt x="0" y="485595"/>
                  </a:lnTo>
                  <a:lnTo>
                    <a:pt x="611775" y="485595"/>
                  </a:lnTo>
                  <a:lnTo>
                    <a:pt x="611775" y="688795"/>
                  </a:lnTo>
                  <a:lnTo>
                    <a:pt x="1018175" y="34439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193675"/>
              <a:ext cx="916575" cy="29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0"/>
                </a:lnSpc>
              </a:p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3039775" y="7471756"/>
            <a:ext cx="1688980" cy="505403"/>
            <a:chOff x="0" y="0"/>
            <a:chExt cx="2301845" cy="68879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301845" cy="688795"/>
            </a:xfrm>
            <a:custGeom>
              <a:avLst/>
              <a:gdLst/>
              <a:ahLst/>
              <a:cxnLst/>
              <a:rect l="l" t="t" r="r" b="b"/>
              <a:pathLst>
                <a:path w="2301845" h="688795">
                  <a:moveTo>
                    <a:pt x="2301845" y="344397"/>
                  </a:moveTo>
                  <a:lnTo>
                    <a:pt x="1895445" y="0"/>
                  </a:lnTo>
                  <a:lnTo>
                    <a:pt x="1895445" y="203200"/>
                  </a:lnTo>
                  <a:lnTo>
                    <a:pt x="0" y="203200"/>
                  </a:lnTo>
                  <a:lnTo>
                    <a:pt x="0" y="485595"/>
                  </a:lnTo>
                  <a:lnTo>
                    <a:pt x="1895445" y="485595"/>
                  </a:lnTo>
                  <a:lnTo>
                    <a:pt x="1895445" y="688795"/>
                  </a:lnTo>
                  <a:lnTo>
                    <a:pt x="2301845" y="34439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193675"/>
              <a:ext cx="2200245" cy="29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0"/>
                </a:lnSpc>
              </a:p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8770457" y="7724458"/>
            <a:ext cx="1373467" cy="505403"/>
            <a:chOff x="0" y="0"/>
            <a:chExt cx="1871845" cy="68879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871845" cy="688795"/>
            </a:xfrm>
            <a:custGeom>
              <a:avLst/>
              <a:gdLst/>
              <a:ahLst/>
              <a:cxnLst/>
              <a:rect l="l" t="t" r="r" b="b"/>
              <a:pathLst>
                <a:path w="1871845" h="688795">
                  <a:moveTo>
                    <a:pt x="1871845" y="344397"/>
                  </a:moveTo>
                  <a:lnTo>
                    <a:pt x="1465445" y="0"/>
                  </a:lnTo>
                  <a:lnTo>
                    <a:pt x="1465445" y="203200"/>
                  </a:lnTo>
                  <a:lnTo>
                    <a:pt x="0" y="203200"/>
                  </a:lnTo>
                  <a:lnTo>
                    <a:pt x="0" y="485595"/>
                  </a:lnTo>
                  <a:lnTo>
                    <a:pt x="1465445" y="485595"/>
                  </a:lnTo>
                  <a:lnTo>
                    <a:pt x="1465445" y="688795"/>
                  </a:lnTo>
                  <a:lnTo>
                    <a:pt x="1871845" y="34439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193675"/>
              <a:ext cx="1770245" cy="29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0"/>
                </a:lnSpc>
              </a:pPr>
            </a:p>
          </p:txBody>
        </p:sp>
      </p:grpSp>
      <p:grpSp>
        <p:nvGrpSpPr>
          <p:cNvPr id="53" name="Group 53"/>
          <p:cNvGrpSpPr/>
          <p:nvPr/>
        </p:nvGrpSpPr>
        <p:grpSpPr>
          <a:xfrm rot="8365860">
            <a:off x="8255512" y="5561574"/>
            <a:ext cx="969818" cy="605333"/>
            <a:chOff x="0" y="0"/>
            <a:chExt cx="1103535" cy="68879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03535" cy="688795"/>
            </a:xfrm>
            <a:custGeom>
              <a:avLst/>
              <a:gdLst/>
              <a:ahLst/>
              <a:cxnLst/>
              <a:rect l="l" t="t" r="r" b="b"/>
              <a:pathLst>
                <a:path w="1103535" h="688795">
                  <a:moveTo>
                    <a:pt x="1103535" y="344397"/>
                  </a:moveTo>
                  <a:lnTo>
                    <a:pt x="697135" y="0"/>
                  </a:lnTo>
                  <a:lnTo>
                    <a:pt x="697135" y="203200"/>
                  </a:lnTo>
                  <a:lnTo>
                    <a:pt x="0" y="203200"/>
                  </a:lnTo>
                  <a:lnTo>
                    <a:pt x="0" y="485595"/>
                  </a:lnTo>
                  <a:lnTo>
                    <a:pt x="697135" y="485595"/>
                  </a:lnTo>
                  <a:lnTo>
                    <a:pt x="697135" y="688795"/>
                  </a:lnTo>
                  <a:lnTo>
                    <a:pt x="1103535" y="34439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193675"/>
              <a:ext cx="1001935" cy="29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0"/>
                </a:lnSpc>
              </a:pP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729125" y="58553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THIẾT KẾ HỆ THỐNG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7311488" y="9540321"/>
            <a:ext cx="547435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09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61" name="Group 61"/>
          <p:cNvGrpSpPr/>
          <p:nvPr/>
        </p:nvGrpSpPr>
        <p:grpSpPr>
          <a:xfrm rot="-10800000">
            <a:off x="11995358" y="3497817"/>
            <a:ext cx="1226319" cy="505403"/>
            <a:chOff x="0" y="0"/>
            <a:chExt cx="1671303" cy="68879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671302" cy="688795"/>
            </a:xfrm>
            <a:custGeom>
              <a:avLst/>
              <a:gdLst/>
              <a:ahLst/>
              <a:cxnLst/>
              <a:rect l="l" t="t" r="r" b="b"/>
              <a:pathLst>
                <a:path w="1671302" h="688795">
                  <a:moveTo>
                    <a:pt x="1671302" y="344397"/>
                  </a:moveTo>
                  <a:lnTo>
                    <a:pt x="1264903" y="0"/>
                  </a:lnTo>
                  <a:lnTo>
                    <a:pt x="1264903" y="203200"/>
                  </a:lnTo>
                  <a:lnTo>
                    <a:pt x="0" y="203200"/>
                  </a:lnTo>
                  <a:lnTo>
                    <a:pt x="0" y="485595"/>
                  </a:lnTo>
                  <a:lnTo>
                    <a:pt x="1264903" y="485595"/>
                  </a:lnTo>
                  <a:lnTo>
                    <a:pt x="1264903" y="688795"/>
                  </a:lnTo>
                  <a:lnTo>
                    <a:pt x="1671302" y="34439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193675"/>
              <a:ext cx="1569703" cy="29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0"/>
                </a:lnSpc>
              </a:pPr>
            </a:p>
          </p:txBody>
        </p:sp>
      </p:grpSp>
      <p:grpSp>
        <p:nvGrpSpPr>
          <p:cNvPr id="64" name="Group 64"/>
          <p:cNvGrpSpPr/>
          <p:nvPr/>
        </p:nvGrpSpPr>
        <p:grpSpPr>
          <a:xfrm rot="-3710196">
            <a:off x="13310911" y="4882175"/>
            <a:ext cx="707452" cy="478591"/>
            <a:chOff x="0" y="0"/>
            <a:chExt cx="1018175" cy="68879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18175" cy="688795"/>
            </a:xfrm>
            <a:custGeom>
              <a:avLst/>
              <a:gdLst/>
              <a:ahLst/>
              <a:cxnLst/>
              <a:rect l="l" t="t" r="r" b="b"/>
              <a:pathLst>
                <a:path w="1018175" h="688795">
                  <a:moveTo>
                    <a:pt x="1018175" y="344397"/>
                  </a:moveTo>
                  <a:lnTo>
                    <a:pt x="611775" y="0"/>
                  </a:lnTo>
                  <a:lnTo>
                    <a:pt x="611775" y="203200"/>
                  </a:lnTo>
                  <a:lnTo>
                    <a:pt x="0" y="203200"/>
                  </a:lnTo>
                  <a:lnTo>
                    <a:pt x="0" y="485595"/>
                  </a:lnTo>
                  <a:lnTo>
                    <a:pt x="611775" y="485595"/>
                  </a:lnTo>
                  <a:lnTo>
                    <a:pt x="611775" y="688795"/>
                  </a:lnTo>
                  <a:lnTo>
                    <a:pt x="1018175" y="344397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193675"/>
              <a:ext cx="916575" cy="29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90"/>
                </a:lnSpc>
              </a:pPr>
            </a:p>
          </p:txBody>
        </p:sp>
      </p:grpSp>
      <p:grpSp>
        <p:nvGrpSpPr>
          <p:cNvPr id="67" name="Group 67"/>
          <p:cNvGrpSpPr/>
          <p:nvPr/>
        </p:nvGrpSpPr>
        <p:grpSpPr>
          <a:xfrm rot="0">
            <a:off x="12230513" y="5318961"/>
            <a:ext cx="1900093" cy="1900093"/>
            <a:chOff x="0" y="0"/>
            <a:chExt cx="2533457" cy="2533457"/>
          </a:xfrm>
        </p:grpSpPr>
        <p:grpSp>
          <p:nvGrpSpPr>
            <p:cNvPr id="68" name="Group 68"/>
            <p:cNvGrpSpPr/>
            <p:nvPr/>
          </p:nvGrpSpPr>
          <p:grpSpPr>
            <a:xfrm rot="0">
              <a:off x="0" y="0"/>
              <a:ext cx="2533457" cy="2533457"/>
              <a:chOff x="0" y="0"/>
              <a:chExt cx="6350000" cy="63500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541020" y="537210"/>
                <a:ext cx="5255260" cy="5255260"/>
              </a:xfrm>
              <a:custGeom>
                <a:avLst/>
                <a:gdLst/>
                <a:ahLst/>
                <a:cxnLst/>
                <a:rect l="l" t="t" r="r" b="b"/>
                <a:pathLst>
                  <a:path w="5255260" h="5255260">
                    <a:moveTo>
                      <a:pt x="2627630" y="0"/>
                    </a:moveTo>
                    <a:cubicBezTo>
                      <a:pt x="1176430" y="0"/>
                      <a:pt x="0" y="1176430"/>
                      <a:pt x="0" y="2627630"/>
                    </a:cubicBezTo>
                    <a:cubicBezTo>
                      <a:pt x="0" y="4078830"/>
                      <a:pt x="1176430" y="5255260"/>
                      <a:pt x="2627630" y="5255260"/>
                    </a:cubicBezTo>
                    <a:cubicBezTo>
                      <a:pt x="4078830" y="5255260"/>
                      <a:pt x="5255260" y="4078830"/>
                      <a:pt x="5255260" y="2627630"/>
                    </a:cubicBezTo>
                    <a:cubicBezTo>
                      <a:pt x="5255260" y="1176430"/>
                      <a:pt x="4078830" y="0"/>
                      <a:pt x="26276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70" name="Freeform 70"/>
            <p:cNvSpPr/>
            <p:nvPr/>
          </p:nvSpPr>
          <p:spPr>
            <a:xfrm>
              <a:off x="606516" y="523376"/>
              <a:ext cx="1320426" cy="1335450"/>
            </a:xfrm>
            <a:custGeom>
              <a:avLst/>
              <a:gdLst/>
              <a:ahLst/>
              <a:cxnLst/>
              <a:rect l="l" t="t" r="r" b="b"/>
              <a:pathLst>
                <a:path w="1320426" h="1335450">
                  <a:moveTo>
                    <a:pt x="0" y="0"/>
                  </a:moveTo>
                  <a:lnTo>
                    <a:pt x="1320426" y="0"/>
                  </a:lnTo>
                  <a:lnTo>
                    <a:pt x="1320426" y="1335450"/>
                  </a:lnTo>
                  <a:lnTo>
                    <a:pt x="0" y="1335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37"/>
            <a:ext cx="11501388" cy="6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MÔ HÌNH LƯU TRỮ DỮ LIỆU SONG SONG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77969" y="9540321"/>
            <a:ext cx="414472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12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2725193" y="2518864"/>
            <a:ext cx="12837614" cy="5905302"/>
            <a:chOff x="0" y="0"/>
            <a:chExt cx="17116818" cy="78737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116818" cy="7873736"/>
            </a:xfrm>
            <a:custGeom>
              <a:avLst/>
              <a:gdLst/>
              <a:ahLst/>
              <a:cxnLst/>
              <a:rect l="l" t="t" r="r" b="b"/>
              <a:pathLst>
                <a:path w="17116818" h="7873736">
                  <a:moveTo>
                    <a:pt x="0" y="0"/>
                  </a:moveTo>
                  <a:lnTo>
                    <a:pt x="17116818" y="0"/>
                  </a:lnTo>
                  <a:lnTo>
                    <a:pt x="17116818" y="7873736"/>
                  </a:lnTo>
                  <a:lnTo>
                    <a:pt x="0" y="7873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6958779" y="1825282"/>
              <a:ext cx="2707468" cy="1035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5"/>
                </a:lnSpc>
              </a:pPr>
              <a:r>
                <a:rPr lang="en-US" sz="2270" b="1">
                  <a:solidFill>
                    <a:srgbClr val="000000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Chuyển giao shortlist IDS</a:t>
              </a:r>
              <a:endParaRPr lang="en-US" sz="227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15688" y="2046799"/>
              <a:ext cx="3457806" cy="1570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65"/>
                </a:lnSpc>
              </a:pPr>
              <a:r>
                <a:rPr lang="en-US" sz="2270" b="1">
                  <a:solidFill>
                    <a:srgbClr val="000000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GraphRAG</a:t>
              </a:r>
              <a:endParaRPr lang="en-US" sz="227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  <a:p>
              <a:pPr algn="ctr">
                <a:lnSpc>
                  <a:spcPts val="3265"/>
                </a:lnSpc>
              </a:pPr>
              <a:r>
                <a:rPr lang="en-US" sz="2270" b="1">
                  <a:solidFill>
                    <a:srgbClr val="000000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Agent điều phối -  công khai</a:t>
              </a:r>
              <a:endParaRPr lang="en-US" sz="227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624926" y="2145062"/>
              <a:ext cx="3283544" cy="1570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65"/>
                </a:lnSpc>
              </a:pPr>
              <a:r>
                <a:rPr lang="en-US" sz="2270" b="1">
                  <a:solidFill>
                    <a:srgbClr val="000000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RAG </a:t>
              </a:r>
              <a:endParaRPr lang="en-US" sz="227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  <a:p>
              <a:pPr algn="ctr">
                <a:lnSpc>
                  <a:spcPts val="3265"/>
                </a:lnSpc>
              </a:pPr>
              <a:r>
                <a:rPr lang="en-US" sz="2270" b="1">
                  <a:solidFill>
                    <a:srgbClr val="000000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Agent cá nhân hóa - riêng tư</a:t>
              </a:r>
              <a:endParaRPr lang="en-US" sz="227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6153" y="3560348"/>
              <a:ext cx="4036874" cy="1398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1945">
                  <a:solidFill>
                    <a:srgbClr val="000000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Biểu diễn cấu trúc + duyệt đồ thị đa bước + ngữ nghĩa quan hệ</a:t>
              </a:r>
              <a:endParaRPr lang="en-US" sz="1945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248261" y="3658611"/>
              <a:ext cx="4036874" cy="1398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1945">
                  <a:solidFill>
                    <a:srgbClr val="000000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Text chunk embeddings + ANN + dữ liệu cá nhân</a:t>
              </a:r>
              <a:endParaRPr lang="en-US" sz="1945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10119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6" y="0"/>
                </a:lnTo>
                <a:lnTo>
                  <a:pt x="10842696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3" name="Object 13"/>
          <p:cNvGraphicFramePr/>
          <p:nvPr/>
        </p:nvGraphicFramePr>
        <p:xfrm>
          <a:off x="1529715" y="1440180"/>
          <a:ext cx="15074265" cy="805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Worksheet" r:id="rId4" imgW="15601950" imgH="9686925" progId="Excel.Sheet.12">
                  <p:embed/>
                </p:oleObj>
              </mc:Choice>
              <mc:Fallback>
                <p:oleObj name="Worksheet" r:id="rId4" imgW="15601950" imgH="9686925" progId="Excel.Sheet.12">
                  <p:embed/>
                  <p:pic>
                    <p:nvPicPr>
                      <p:cNvPr id="0" name="Picture 1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9715" y="1440180"/>
                        <a:ext cx="15074265" cy="8053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29125" y="585537"/>
            <a:ext cx="115013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LƯỢC ĐỒ TRI THỨC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373687" y="9540321"/>
            <a:ext cx="423037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14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17968" y="1821304"/>
            <a:ext cx="5966801" cy="7069722"/>
          </a:xfrm>
          <a:custGeom>
            <a:avLst/>
            <a:gdLst/>
            <a:ahLst/>
            <a:cxnLst/>
            <a:rect l="l" t="t" r="r" b="b"/>
            <a:pathLst>
              <a:path w="5966801" h="7069722">
                <a:moveTo>
                  <a:pt x="0" y="0"/>
                </a:moveTo>
                <a:lnTo>
                  <a:pt x="5966800" y="0"/>
                </a:lnTo>
                <a:lnTo>
                  <a:pt x="5966800" y="7069722"/>
                </a:lnTo>
                <a:lnTo>
                  <a:pt x="0" y="7069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29125" y="585537"/>
            <a:ext cx="11501388" cy="63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TÌM KIẾM ỨNG VIÊN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377969" y="9540321"/>
            <a:ext cx="414472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15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8402663" y="5143500"/>
            <a:ext cx="7529094" cy="1715221"/>
            <a:chOff x="0" y="0"/>
            <a:chExt cx="10038792" cy="2286961"/>
          </a:xfrm>
        </p:grpSpPr>
        <p:sp>
          <p:nvSpPr>
            <p:cNvPr id="18" name="Freeform 18"/>
            <p:cNvSpPr/>
            <p:nvPr/>
          </p:nvSpPr>
          <p:spPr>
            <a:xfrm>
              <a:off x="0" y="495270"/>
              <a:ext cx="10038792" cy="947436"/>
            </a:xfrm>
            <a:custGeom>
              <a:avLst/>
              <a:gdLst/>
              <a:ahLst/>
              <a:cxnLst/>
              <a:rect l="l" t="t" r="r" b="b"/>
              <a:pathLst>
                <a:path w="10038792" h="947436">
                  <a:moveTo>
                    <a:pt x="0" y="0"/>
                  </a:moveTo>
                  <a:lnTo>
                    <a:pt x="10038792" y="0"/>
                  </a:lnTo>
                  <a:lnTo>
                    <a:pt x="10038792" y="947436"/>
                  </a:lnTo>
                  <a:lnTo>
                    <a:pt x="0" y="947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43481" y="1566426"/>
              <a:ext cx="3711848" cy="720535"/>
            </a:xfrm>
            <a:custGeom>
              <a:avLst/>
              <a:gdLst/>
              <a:ahLst/>
              <a:cxnLst/>
              <a:rect l="l" t="t" r="r" b="b"/>
              <a:pathLst>
                <a:path w="3711848" h="720535">
                  <a:moveTo>
                    <a:pt x="0" y="0"/>
                  </a:moveTo>
                  <a:lnTo>
                    <a:pt x="3711848" y="0"/>
                  </a:lnTo>
                  <a:lnTo>
                    <a:pt x="3711848" y="720535"/>
                  </a:lnTo>
                  <a:lnTo>
                    <a:pt x="0" y="720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224616" y="9525"/>
              <a:ext cx="3041950" cy="485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000000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Điểm tổng hợp</a:t>
              </a:r>
              <a:endParaRPr lang="en-US" sz="2500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8402663" y="2371916"/>
            <a:ext cx="8108418" cy="2059402"/>
            <a:chOff x="0" y="0"/>
            <a:chExt cx="10811224" cy="2745870"/>
          </a:xfrm>
        </p:grpSpPr>
        <p:sp>
          <p:nvSpPr>
            <p:cNvPr id="22" name="Freeform 22"/>
            <p:cNvSpPr/>
            <p:nvPr/>
          </p:nvSpPr>
          <p:spPr>
            <a:xfrm>
              <a:off x="0" y="622345"/>
              <a:ext cx="9589560" cy="1044197"/>
            </a:xfrm>
            <a:custGeom>
              <a:avLst/>
              <a:gdLst/>
              <a:ahLst/>
              <a:cxnLst/>
              <a:rect l="l" t="t" r="r" b="b"/>
              <a:pathLst>
                <a:path w="9589560" h="1044197">
                  <a:moveTo>
                    <a:pt x="0" y="0"/>
                  </a:moveTo>
                  <a:lnTo>
                    <a:pt x="9589560" y="0"/>
                  </a:lnTo>
                  <a:lnTo>
                    <a:pt x="9589560" y="1044196"/>
                  </a:lnTo>
                  <a:lnTo>
                    <a:pt x="0" y="1044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0" y="1793541"/>
              <a:ext cx="6623971" cy="952328"/>
            </a:xfrm>
            <a:custGeom>
              <a:avLst/>
              <a:gdLst/>
              <a:ahLst/>
              <a:cxnLst/>
              <a:rect l="l" t="t" r="r" b="b"/>
              <a:pathLst>
                <a:path w="6623971" h="952328">
                  <a:moveTo>
                    <a:pt x="0" y="0"/>
                  </a:moveTo>
                  <a:lnTo>
                    <a:pt x="6623971" y="0"/>
                  </a:lnTo>
                  <a:lnTo>
                    <a:pt x="6623971" y="952329"/>
                  </a:lnTo>
                  <a:lnTo>
                    <a:pt x="0" y="95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10811224" cy="485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>
                  <a:solidFill>
                    <a:srgbClr val="000000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Điểm đồ thị nâng cao được thiết kế với ba thành phần:</a:t>
              </a:r>
              <a:endParaRPr lang="en-US" sz="2500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18776" y="3134962"/>
            <a:ext cx="1878117" cy="26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top 15, ANN</a:t>
            </a:r>
            <a:endParaRPr lang="en-US" sz="1800" b="1">
              <a:solidFill>
                <a:srgbClr val="000000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94711" y="1549662"/>
            <a:ext cx="8562214" cy="7843706"/>
          </a:xfrm>
          <a:custGeom>
            <a:avLst/>
            <a:gdLst/>
            <a:ahLst/>
            <a:cxnLst/>
            <a:rect l="l" t="t" r="r" b="b"/>
            <a:pathLst>
              <a:path w="8562214" h="7843706">
                <a:moveTo>
                  <a:pt x="0" y="0"/>
                </a:moveTo>
                <a:lnTo>
                  <a:pt x="8562214" y="0"/>
                </a:lnTo>
                <a:lnTo>
                  <a:pt x="8562214" y="7843706"/>
                </a:lnTo>
                <a:lnTo>
                  <a:pt x="0" y="7843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618705" y="4900174"/>
            <a:ext cx="1219879" cy="1180781"/>
          </a:xfrm>
          <a:custGeom>
            <a:avLst/>
            <a:gdLst/>
            <a:ahLst/>
            <a:cxnLst/>
            <a:rect l="l" t="t" r="r" b="b"/>
            <a:pathLst>
              <a:path w="1219879" h="1180781">
                <a:moveTo>
                  <a:pt x="0" y="0"/>
                </a:moveTo>
                <a:lnTo>
                  <a:pt x="1219879" y="0"/>
                </a:lnTo>
                <a:lnTo>
                  <a:pt x="1219879" y="1180781"/>
                </a:lnTo>
                <a:lnTo>
                  <a:pt x="0" y="11807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3626679" y="4540434"/>
            <a:ext cx="3239652" cy="1862162"/>
          </a:xfrm>
          <a:custGeom>
            <a:avLst/>
            <a:gdLst/>
            <a:ahLst/>
            <a:cxnLst/>
            <a:rect l="l" t="t" r="r" b="b"/>
            <a:pathLst>
              <a:path w="3239652" h="1862162">
                <a:moveTo>
                  <a:pt x="0" y="0"/>
                </a:moveTo>
                <a:lnTo>
                  <a:pt x="3239653" y="0"/>
                </a:lnTo>
                <a:lnTo>
                  <a:pt x="3239653" y="1862162"/>
                </a:lnTo>
                <a:lnTo>
                  <a:pt x="0" y="186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729125" y="585537"/>
            <a:ext cx="11501388" cy="63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BẢN SAO SỐ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377969" y="9540321"/>
            <a:ext cx="414472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15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1105284" y="5490565"/>
            <a:ext cx="2250459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37"/>
            <a:ext cx="115013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NỘI DUNG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2799376" y="3813581"/>
            <a:ext cx="12689249" cy="2659837"/>
            <a:chOff x="0" y="0"/>
            <a:chExt cx="16918998" cy="3546450"/>
          </a:xfrm>
        </p:grpSpPr>
        <p:sp>
          <p:nvSpPr>
            <p:cNvPr id="6" name="AutoShape 6"/>
            <p:cNvSpPr/>
            <p:nvPr/>
          </p:nvSpPr>
          <p:spPr>
            <a:xfrm>
              <a:off x="1765304" y="3521050"/>
              <a:ext cx="5700244" cy="0"/>
            </a:xfrm>
            <a:prstGeom prst="line">
              <a:avLst/>
            </a:prstGeom>
            <a:ln w="50800" cap="flat">
              <a:solidFill>
                <a:srgbClr val="1F5CA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0" y="0"/>
              <a:ext cx="1306615" cy="1656772"/>
              <a:chOff x="0" y="0"/>
              <a:chExt cx="251645" cy="31908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51645" cy="319083"/>
              </a:xfrm>
              <a:custGeom>
                <a:avLst/>
                <a:gdLst/>
                <a:ahLst/>
                <a:cxnLst/>
                <a:rect l="l" t="t" r="r" b="b"/>
                <a:pathLst>
                  <a:path w="251645" h="319083">
                    <a:moveTo>
                      <a:pt x="125822" y="0"/>
                    </a:moveTo>
                    <a:lnTo>
                      <a:pt x="125822" y="0"/>
                    </a:lnTo>
                    <a:cubicBezTo>
                      <a:pt x="195312" y="0"/>
                      <a:pt x="251645" y="56333"/>
                      <a:pt x="251645" y="125822"/>
                    </a:cubicBezTo>
                    <a:lnTo>
                      <a:pt x="251645" y="193260"/>
                    </a:lnTo>
                    <a:cubicBezTo>
                      <a:pt x="251645" y="262750"/>
                      <a:pt x="195312" y="319083"/>
                      <a:pt x="125822" y="319083"/>
                    </a:cubicBezTo>
                    <a:lnTo>
                      <a:pt x="125822" y="319083"/>
                    </a:lnTo>
                    <a:cubicBezTo>
                      <a:pt x="92452" y="319083"/>
                      <a:pt x="60449" y="305826"/>
                      <a:pt x="36853" y="282230"/>
                    </a:cubicBezTo>
                    <a:cubicBezTo>
                      <a:pt x="13256" y="258634"/>
                      <a:pt x="0" y="226630"/>
                      <a:pt x="0" y="193260"/>
                    </a:cubicBezTo>
                    <a:lnTo>
                      <a:pt x="0" y="125822"/>
                    </a:lnTo>
                    <a:cubicBezTo>
                      <a:pt x="0" y="92452"/>
                      <a:pt x="13256" y="60449"/>
                      <a:pt x="36853" y="36853"/>
                    </a:cubicBezTo>
                    <a:cubicBezTo>
                      <a:pt x="60449" y="13256"/>
                      <a:pt x="92452" y="0"/>
                      <a:pt x="125822" y="0"/>
                    </a:cubicBezTo>
                    <a:close/>
                  </a:path>
                </a:pathLst>
              </a:custGeom>
              <a:solidFill>
                <a:srgbClr val="1F5CAA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251645" cy="4143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800"/>
                  </a:lnSpc>
                </a:p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79458" y="-209550"/>
              <a:ext cx="690422" cy="167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00"/>
                </a:lnSpc>
              </a:pPr>
              <a:r>
                <a:rPr lang="en-US" sz="7200" b="1" spc="72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4</a:t>
              </a:r>
              <a:endParaRPr lang="en-US" sz="7200" b="1" spc="7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5304" y="-198698"/>
              <a:ext cx="15153694" cy="3501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7200" b="1" spc="72">
                  <a:solidFill>
                    <a:srgbClr val="1A152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KẾT QUẢ THỰC NGHIỆM VÀ ĐÁNH GIÁ</a:t>
              </a:r>
              <a:endParaRPr lang="en-US" sz="7200" b="1" spc="72">
                <a:solidFill>
                  <a:srgbClr val="1A152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374459" y="9540321"/>
            <a:ext cx="421493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18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49537"/>
            <a:ext cx="12353617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CẤU HÌNH MÁY VÀ MÔI TRƯỜNG THỰC NGHIỆM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852684" y="8574379"/>
            <a:ext cx="551118" cy="496750"/>
          </a:xfrm>
          <a:custGeom>
            <a:avLst/>
            <a:gdLst/>
            <a:ahLst/>
            <a:cxnLst/>
            <a:rect l="l" t="t" r="r" b="b"/>
            <a:pathLst>
              <a:path w="551118" h="496750">
                <a:moveTo>
                  <a:pt x="0" y="0"/>
                </a:moveTo>
                <a:lnTo>
                  <a:pt x="551117" y="0"/>
                </a:lnTo>
                <a:lnTo>
                  <a:pt x="551117" y="496749"/>
                </a:lnTo>
                <a:lnTo>
                  <a:pt x="0" y="496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370809" y="9540321"/>
            <a:ext cx="428794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10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472055" y="8556943"/>
            <a:ext cx="778118" cy="701357"/>
          </a:xfrm>
          <a:custGeom>
            <a:avLst/>
            <a:gdLst/>
            <a:ahLst/>
            <a:cxnLst/>
            <a:rect l="l" t="t" r="r" b="b"/>
            <a:pathLst>
              <a:path w="778118" h="701357">
                <a:moveTo>
                  <a:pt x="0" y="0"/>
                </a:moveTo>
                <a:lnTo>
                  <a:pt x="778119" y="0"/>
                </a:lnTo>
                <a:lnTo>
                  <a:pt x="778119" y="701357"/>
                </a:lnTo>
                <a:lnTo>
                  <a:pt x="0" y="7013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1317968" y="2131856"/>
            <a:ext cx="14329637" cy="6425026"/>
            <a:chOff x="0" y="0"/>
            <a:chExt cx="19106183" cy="8566701"/>
          </a:xfrm>
        </p:grpSpPr>
        <p:sp>
          <p:nvSpPr>
            <p:cNvPr id="19" name="Freeform 19"/>
            <p:cNvSpPr/>
            <p:nvPr/>
          </p:nvSpPr>
          <p:spPr>
            <a:xfrm>
              <a:off x="1269065" y="6542574"/>
              <a:ext cx="734824" cy="662333"/>
            </a:xfrm>
            <a:custGeom>
              <a:avLst/>
              <a:gdLst/>
              <a:ahLst/>
              <a:cxnLst/>
              <a:rect l="l" t="t" r="r" b="b"/>
              <a:pathLst>
                <a:path w="734824" h="662333">
                  <a:moveTo>
                    <a:pt x="0" y="0"/>
                  </a:moveTo>
                  <a:lnTo>
                    <a:pt x="734824" y="0"/>
                  </a:lnTo>
                  <a:lnTo>
                    <a:pt x="734824" y="662333"/>
                  </a:lnTo>
                  <a:lnTo>
                    <a:pt x="0" y="662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8478550" cy="26782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50"/>
                </a:lnSpc>
              </a:pPr>
              <a:r>
                <a:rPr lang="en-US" sz="2880" b="1">
                  <a:solidFill>
                    <a:srgbClr val="0B5395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Cấu hình máy: </a:t>
              </a:r>
              <a:endParaRPr lang="en-US" sz="2880" b="1">
                <a:solidFill>
                  <a:srgbClr val="0B5395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  <a:p>
              <a:pPr marL="622300" lvl="1" indent="-311150" algn="l">
                <a:lnSpc>
                  <a:spcPts val="4150"/>
                </a:lnSpc>
                <a:buFont typeface="Arial" panose="020B0604020202020204"/>
                <a:buChar char="•"/>
              </a:pPr>
              <a:r>
                <a:rPr lang="en-US" sz="2880">
                  <a:solidFill>
                    <a:srgbClr val="0B5395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11th Gen Intel(R) Core(TM) i5-11400H @ 2.70GHz (2.69 GHz), RAM 16.0 GB</a:t>
              </a:r>
              <a:endParaRPr lang="en-US" sz="2880">
                <a:solidFill>
                  <a:srgbClr val="0B5395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  <a:p>
              <a:pPr marL="622300" lvl="1" indent="-311150" algn="l">
                <a:lnSpc>
                  <a:spcPts val="4150"/>
                </a:lnSpc>
                <a:buFont typeface="Arial" panose="020B0604020202020204"/>
                <a:buChar char="•"/>
              </a:pPr>
              <a:r>
                <a:rPr lang="en-US" sz="2880">
                  <a:solidFill>
                    <a:srgbClr val="0B5395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 Hệ điều hành: Windows 11, 64-bit</a:t>
              </a:r>
              <a:endParaRPr lang="en-US" sz="2880">
                <a:solidFill>
                  <a:srgbClr val="0B5395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  <a:p>
              <a:pPr algn="l">
                <a:lnSpc>
                  <a:spcPts val="3460"/>
                </a:lnSpc>
              </a:pPr>
              <a:r>
                <a:rPr lang="en-US" sz="2880">
                  <a:solidFill>
                    <a:srgbClr val="0B5395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  </a:t>
              </a:r>
              <a:endParaRPr lang="en-US" sz="2880">
                <a:solidFill>
                  <a:srgbClr val="0B5395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3649744"/>
              <a:ext cx="19106183" cy="4916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55"/>
                </a:lnSpc>
              </a:pPr>
              <a:r>
                <a:rPr lang="en-US" sz="3025" b="1">
                  <a:solidFill>
                    <a:srgbClr val="0B5395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Thiết lập môi trường thực nghiệm</a:t>
              </a:r>
              <a:r>
                <a:rPr lang="en-US" sz="3025" b="1">
                  <a:solidFill>
                    <a:srgbClr val="0B5395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: </a:t>
              </a:r>
              <a:endParaRPr lang="en-US" sz="3025" b="1">
                <a:solidFill>
                  <a:srgbClr val="0B5395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  <a:p>
              <a:pPr marL="652780" lvl="1" indent="-326390" algn="l">
                <a:lnSpc>
                  <a:spcPts val="4355"/>
                </a:lnSpc>
                <a:buFont typeface="Arial" panose="020B0604020202020204"/>
                <a:buChar char="•"/>
              </a:pPr>
              <a:r>
                <a:rPr lang="en-US" sz="3025">
                  <a:solidFill>
                    <a:srgbClr val="0B5395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Python 3.12</a:t>
              </a:r>
              <a:endParaRPr lang="en-US" sz="3025">
                <a:solidFill>
                  <a:srgbClr val="0B5395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  <a:p>
              <a:pPr marL="652780" lvl="1" indent="-326390" algn="l">
                <a:lnSpc>
                  <a:spcPts val="4355"/>
                </a:lnSpc>
                <a:buFont typeface="Arial" panose="020B0604020202020204"/>
                <a:buChar char="•"/>
              </a:pPr>
              <a:r>
                <a:rPr lang="en-US" sz="3025">
                  <a:solidFill>
                    <a:srgbClr val="0B5395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Cơ sở dữ liệu đồ thị: Neo4j 5.26. (Docker)</a:t>
              </a:r>
              <a:endParaRPr lang="en-US" sz="3025">
                <a:solidFill>
                  <a:srgbClr val="0B5395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  <a:p>
              <a:pPr marL="652780" lvl="1" indent="-326390" algn="l">
                <a:lnSpc>
                  <a:spcPts val="4355"/>
                </a:lnSpc>
                <a:buFont typeface="Arial" panose="020B0604020202020204"/>
                <a:buChar char="•"/>
              </a:pPr>
              <a:r>
                <a:rPr lang="en-US" sz="3025">
                  <a:solidFill>
                    <a:srgbClr val="0B5395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Cơ sở dữ liệu vector: Supabase (pgvector)</a:t>
              </a:r>
              <a:endParaRPr lang="en-US" sz="3025">
                <a:solidFill>
                  <a:srgbClr val="0B5395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  <a:p>
              <a:pPr marL="652780" lvl="1" indent="-326390" algn="l">
                <a:lnSpc>
                  <a:spcPts val="4355"/>
                </a:lnSpc>
                <a:buFont typeface="Arial" panose="020B0604020202020204"/>
                <a:buChar char="•"/>
              </a:pPr>
              <a:r>
                <a:rPr lang="en-US" sz="3025">
                  <a:solidFill>
                    <a:srgbClr val="0B5395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Framework Đánh giá: RAGAS 0.2+</a:t>
              </a:r>
              <a:endParaRPr lang="en-US" sz="3025">
                <a:solidFill>
                  <a:srgbClr val="0B5395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  <a:p>
              <a:pPr algn="l">
                <a:lnSpc>
                  <a:spcPts val="3630"/>
                </a:lnSpc>
              </a:pPr>
              <a:r>
                <a:rPr lang="en-US" sz="3025">
                  <a:solidFill>
                    <a:srgbClr val="0B5395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Mô</a:t>
              </a:r>
              <a:r>
                <a:rPr lang="en-US" sz="3025">
                  <a:solidFill>
                    <a:srgbClr val="0B5395"/>
                  </a:solidFill>
                  <a:latin typeface="K2D" panose="00000500000000000000"/>
                  <a:ea typeface="K2D" panose="00000500000000000000"/>
                  <a:cs typeface="K2D" panose="00000500000000000000"/>
                  <a:sym typeface="K2D" panose="00000500000000000000"/>
                </a:rPr>
                <a:t> hình: GPT-40-mini (evaluation), Llama 3.1-8B (sao lưu trích xuất thực thể)</a:t>
              </a:r>
              <a:endParaRPr lang="en-US" sz="3025">
                <a:solidFill>
                  <a:srgbClr val="0B5395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endParaRPr>
            </a:p>
            <a:p>
              <a:pPr algn="l">
                <a:lnSpc>
                  <a:spcPts val="3630"/>
                </a:lnSpc>
              </a:pPr>
              <a:r>
                <a:rPr lang="en-US" sz="3025" b="1">
                  <a:solidFill>
                    <a:srgbClr val="0F6FC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  </a:t>
              </a:r>
              <a:endParaRPr lang="en-US" sz="3025" b="1">
                <a:solidFill>
                  <a:srgbClr val="0F6FC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37"/>
            <a:ext cx="11501388" cy="63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THU THẬP DỮ LIỆU THỰC NGHIỆM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431955" y="9540321"/>
            <a:ext cx="306502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11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2325047" y="1917077"/>
            <a:ext cx="13350098" cy="7108876"/>
            <a:chOff x="0" y="0"/>
            <a:chExt cx="17800131" cy="9478501"/>
          </a:xfrm>
        </p:grpSpPr>
        <p:sp>
          <p:nvSpPr>
            <p:cNvPr id="17" name="Freeform 17"/>
            <p:cNvSpPr/>
            <p:nvPr/>
          </p:nvSpPr>
          <p:spPr>
            <a:xfrm>
              <a:off x="9922297" y="0"/>
              <a:ext cx="2904546" cy="3030334"/>
            </a:xfrm>
            <a:custGeom>
              <a:avLst/>
              <a:gdLst/>
              <a:ahLst/>
              <a:cxnLst/>
              <a:rect l="l" t="t" r="r" b="b"/>
              <a:pathLst>
                <a:path w="2904546" h="3030334">
                  <a:moveTo>
                    <a:pt x="0" y="0"/>
                  </a:moveTo>
                  <a:lnTo>
                    <a:pt x="2904546" y="0"/>
                  </a:lnTo>
                  <a:lnTo>
                    <a:pt x="2904546" y="3030334"/>
                  </a:lnTo>
                  <a:lnTo>
                    <a:pt x="0" y="3030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297341" y="3273971"/>
              <a:ext cx="2904546" cy="2664242"/>
            </a:xfrm>
            <a:custGeom>
              <a:avLst/>
              <a:gdLst/>
              <a:ahLst/>
              <a:cxnLst/>
              <a:rect l="l" t="t" r="r" b="b"/>
              <a:pathLst>
                <a:path w="2904546" h="2664242">
                  <a:moveTo>
                    <a:pt x="0" y="0"/>
                  </a:moveTo>
                  <a:lnTo>
                    <a:pt x="2904546" y="0"/>
                  </a:lnTo>
                  <a:lnTo>
                    <a:pt x="2904546" y="2664242"/>
                  </a:lnTo>
                  <a:lnTo>
                    <a:pt x="0" y="2664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603643" y="7043802"/>
              <a:ext cx="7196487" cy="2434699"/>
            </a:xfrm>
            <a:custGeom>
              <a:avLst/>
              <a:gdLst/>
              <a:ahLst/>
              <a:cxnLst/>
              <a:rect l="l" t="t" r="r" b="b"/>
              <a:pathLst>
                <a:path w="7196487" h="2434699">
                  <a:moveTo>
                    <a:pt x="0" y="0"/>
                  </a:moveTo>
                  <a:lnTo>
                    <a:pt x="7196488" y="0"/>
                  </a:lnTo>
                  <a:lnTo>
                    <a:pt x="7196488" y="2434699"/>
                  </a:lnTo>
                  <a:lnTo>
                    <a:pt x="0" y="2434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3500772"/>
              <a:ext cx="4666526" cy="705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85"/>
                </a:lnSpc>
              </a:pPr>
              <a:r>
                <a:rPr lang="en-US" sz="3185" b="1">
                  <a:solidFill>
                    <a:srgbClr val="002060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Số lượng CV: 80</a:t>
              </a:r>
              <a:endParaRPr lang="en-US" sz="3185" b="1">
                <a:solidFill>
                  <a:srgbClr val="00206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543" y="1637209"/>
              <a:ext cx="5506521" cy="881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223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30 CV T</a:t>
              </a:r>
              <a:r>
                <a:rPr lang="en-US" sz="223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rích xuất dữ liệu thực nghiệm</a:t>
              </a:r>
              <a:endParaRPr lang="en-US" sz="223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89543" y="5661967"/>
              <a:ext cx="5734738" cy="881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5"/>
                </a:lnSpc>
                <a:spcBef>
                  <a:spcPct val="0"/>
                </a:spcBef>
              </a:pPr>
              <a:r>
                <a:rPr lang="en-US" sz="223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50 CV S</a:t>
              </a:r>
              <a:r>
                <a:rPr lang="en-US" sz="223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inh JD và các cặp Q&amp;A thực nghiệm</a:t>
              </a:r>
              <a:endParaRPr lang="en-US" sz="223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23" name="Group 23"/>
            <p:cNvGrpSpPr/>
            <p:nvPr/>
          </p:nvGrpSpPr>
          <p:grpSpPr>
            <a:xfrm rot="-3602777">
              <a:off x="4217298" y="2681513"/>
              <a:ext cx="1549442" cy="718697"/>
              <a:chOff x="0" y="0"/>
              <a:chExt cx="1484975" cy="68879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484975" cy="688795"/>
              </a:xfrm>
              <a:custGeom>
                <a:avLst/>
                <a:gdLst/>
                <a:ahLst/>
                <a:cxnLst/>
                <a:rect l="l" t="t" r="r" b="b"/>
                <a:pathLst>
                  <a:path w="1484975" h="688795">
                    <a:moveTo>
                      <a:pt x="1484975" y="344397"/>
                    </a:moveTo>
                    <a:lnTo>
                      <a:pt x="1078575" y="0"/>
                    </a:lnTo>
                    <a:lnTo>
                      <a:pt x="1078575" y="203200"/>
                    </a:lnTo>
                    <a:lnTo>
                      <a:pt x="0" y="203200"/>
                    </a:lnTo>
                    <a:lnTo>
                      <a:pt x="0" y="485595"/>
                    </a:lnTo>
                    <a:lnTo>
                      <a:pt x="1078575" y="485595"/>
                    </a:lnTo>
                    <a:lnTo>
                      <a:pt x="1078575" y="688795"/>
                    </a:lnTo>
                    <a:lnTo>
                      <a:pt x="1484975" y="344397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193675"/>
                <a:ext cx="1383375" cy="291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90"/>
                  </a:lnSpc>
                </a:p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2838084">
              <a:off x="4362203" y="4582581"/>
              <a:ext cx="1478178" cy="718697"/>
              <a:chOff x="0" y="0"/>
              <a:chExt cx="1416676" cy="68879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416676" cy="688795"/>
              </a:xfrm>
              <a:custGeom>
                <a:avLst/>
                <a:gdLst/>
                <a:ahLst/>
                <a:cxnLst/>
                <a:rect l="l" t="t" r="r" b="b"/>
                <a:pathLst>
                  <a:path w="1416676" h="688795">
                    <a:moveTo>
                      <a:pt x="1416676" y="344397"/>
                    </a:moveTo>
                    <a:lnTo>
                      <a:pt x="1010276" y="0"/>
                    </a:lnTo>
                    <a:lnTo>
                      <a:pt x="1010276" y="203200"/>
                    </a:lnTo>
                    <a:lnTo>
                      <a:pt x="0" y="203200"/>
                    </a:lnTo>
                    <a:lnTo>
                      <a:pt x="0" y="485595"/>
                    </a:lnTo>
                    <a:lnTo>
                      <a:pt x="1010276" y="485595"/>
                    </a:lnTo>
                    <a:lnTo>
                      <a:pt x="1010276" y="688795"/>
                    </a:lnTo>
                    <a:lnTo>
                      <a:pt x="1416676" y="344397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193675"/>
                <a:ext cx="1315076" cy="291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90"/>
                  </a:lnSpc>
                </a:p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2343188">
              <a:off x="9348583" y="6439879"/>
              <a:ext cx="1309974" cy="718697"/>
              <a:chOff x="0" y="0"/>
              <a:chExt cx="1255471" cy="68879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255471" cy="688795"/>
              </a:xfrm>
              <a:custGeom>
                <a:avLst/>
                <a:gdLst/>
                <a:ahLst/>
                <a:cxnLst/>
                <a:rect l="l" t="t" r="r" b="b"/>
                <a:pathLst>
                  <a:path w="1255471" h="688795">
                    <a:moveTo>
                      <a:pt x="1255471" y="344397"/>
                    </a:moveTo>
                    <a:lnTo>
                      <a:pt x="849071" y="0"/>
                    </a:lnTo>
                    <a:lnTo>
                      <a:pt x="849071" y="203200"/>
                    </a:lnTo>
                    <a:lnTo>
                      <a:pt x="0" y="203200"/>
                    </a:lnTo>
                    <a:lnTo>
                      <a:pt x="0" y="485595"/>
                    </a:lnTo>
                    <a:lnTo>
                      <a:pt x="849071" y="485595"/>
                    </a:lnTo>
                    <a:lnTo>
                      <a:pt x="849071" y="688795"/>
                    </a:lnTo>
                    <a:lnTo>
                      <a:pt x="1255471" y="344397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193675"/>
                <a:ext cx="1153871" cy="291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9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-1245561">
              <a:off x="9103254" y="4677719"/>
              <a:ext cx="2136057" cy="718697"/>
              <a:chOff x="0" y="0"/>
              <a:chExt cx="2047183" cy="68879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047183" cy="688795"/>
              </a:xfrm>
              <a:custGeom>
                <a:avLst/>
                <a:gdLst/>
                <a:ahLst/>
                <a:cxnLst/>
                <a:rect l="l" t="t" r="r" b="b"/>
                <a:pathLst>
                  <a:path w="2047183" h="688795">
                    <a:moveTo>
                      <a:pt x="2047183" y="344397"/>
                    </a:moveTo>
                    <a:lnTo>
                      <a:pt x="1640783" y="0"/>
                    </a:lnTo>
                    <a:lnTo>
                      <a:pt x="1640783" y="203200"/>
                    </a:lnTo>
                    <a:lnTo>
                      <a:pt x="0" y="203200"/>
                    </a:lnTo>
                    <a:lnTo>
                      <a:pt x="0" y="485595"/>
                    </a:lnTo>
                    <a:lnTo>
                      <a:pt x="1640783" y="485595"/>
                    </a:lnTo>
                    <a:lnTo>
                      <a:pt x="1640783" y="688795"/>
                    </a:lnTo>
                    <a:lnTo>
                      <a:pt x="2047183" y="344397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193675"/>
                <a:ext cx="1945583" cy="291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90"/>
                  </a:lnSpc>
                </a:pP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3" name="Object 12"/>
          <p:cNvGraphicFramePr/>
          <p:nvPr/>
        </p:nvGraphicFramePr>
        <p:xfrm>
          <a:off x="9677400" y="2663190"/>
          <a:ext cx="7211060" cy="5522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Worksheet" r:id="rId4" imgW="6736080" imgH="6073140" progId="Excel.Sheet.12">
                  <p:embed/>
                </p:oleObj>
              </mc:Choice>
              <mc:Fallback>
                <p:oleObj name="Worksheet" r:id="rId4" imgW="6736080" imgH="6073140" progId="Excel.Sheet.12">
                  <p:embed/>
                  <p:pic>
                    <p:nvPicPr>
                      <p:cNvPr id="0" name="Picture 1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77400" y="2663190"/>
                        <a:ext cx="7211060" cy="5522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3"/>
          <p:cNvSpPr txBox="1"/>
          <p:nvPr/>
        </p:nvSpPr>
        <p:spPr>
          <a:xfrm>
            <a:off x="729125" y="585537"/>
            <a:ext cx="15223601" cy="59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CÁC MÔ HÌNH BIỂU DIỄN VECTOR VÀ CÁC CẤU HÌNH TRUY XUẤT</a:t>
            </a:r>
            <a:endParaRPr lang="en-US" sz="39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8" name="TextBox 16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17372634" y="9540321"/>
            <a:ext cx="425143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19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0" name="TextBox 18"/>
          <p:cNvSpPr txBox="1"/>
          <p:nvPr/>
        </p:nvSpPr>
        <p:spPr>
          <a:xfrm>
            <a:off x="2201400" y="8372475"/>
            <a:ext cx="4876207" cy="63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Cấu hình truy xuất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9608909" y="8305609"/>
            <a:ext cx="6721258" cy="63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4 mô hình biểu diễn vector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aphicFrame>
        <p:nvGraphicFramePr>
          <p:cNvPr id="22" name="Table 21"/>
          <p:cNvGraphicFramePr/>
          <p:nvPr/>
        </p:nvGraphicFramePr>
        <p:xfrm>
          <a:off x="619760" y="2444115"/>
          <a:ext cx="7462520" cy="5739130"/>
        </p:xfrm>
        <a:graphic>
          <a:graphicData uri="http://schemas.openxmlformats.org/drawingml/2006/table">
            <a:tbl>
              <a:tblPr/>
              <a:tblGrid>
                <a:gridCol w="1727835"/>
                <a:gridCol w="1075690"/>
                <a:gridCol w="1000760"/>
                <a:gridCol w="1703070"/>
                <a:gridCol w="1955165"/>
              </a:tblGrid>
              <a:tr h="1061720"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Hệ thống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CC7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α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CC7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β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CC7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Điểm đồ thị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CC7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Mô tả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CC7E9"/>
                    </a:solidFill>
                  </a:tcPr>
                </a:tc>
              </a:tr>
              <a:tr h="1250315"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RAG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Không áp dụng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Chỉ dùng độ tương đồng vector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5060"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GraphRAG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Chỉ kỹ năng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Chỉ dùng điểm đồ thị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62355"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Hybrid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Chỉ kỹ năng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Kết hợp điểm đồ thị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49680"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Hybrid+</a:t>
                      </a:r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 thành phần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2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Kết hợp điểm đồ thị nâng cao</a:t>
                      </a:r>
                      <a:endParaRPr sz="2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Text Box 22"/>
          <p:cNvSpPr txBox="1"/>
          <p:nvPr/>
        </p:nvSpPr>
        <p:spPr>
          <a:xfrm>
            <a:off x="16492855" y="680021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8980" y="585470"/>
            <a:ext cx="12703175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SO SÁNH CÁC MÔ HÌNH BIỂU DIỄN VECTOR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72634" y="9540321"/>
            <a:ext cx="425143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19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346345" y="2142842"/>
            <a:ext cx="15595310" cy="5750771"/>
          </a:xfrm>
          <a:custGeom>
            <a:avLst/>
            <a:gdLst/>
            <a:ahLst/>
            <a:cxnLst/>
            <a:rect l="l" t="t" r="r" b="b"/>
            <a:pathLst>
              <a:path w="15595310" h="5750771">
                <a:moveTo>
                  <a:pt x="0" y="0"/>
                </a:moveTo>
                <a:lnTo>
                  <a:pt x="15595310" y="0"/>
                </a:lnTo>
                <a:lnTo>
                  <a:pt x="15595310" y="5750771"/>
                </a:lnTo>
                <a:lnTo>
                  <a:pt x="0" y="5750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261365" y="8485716"/>
            <a:ext cx="13765269" cy="448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GTE-multilingual-base</a:t>
            </a:r>
            <a:r>
              <a:rPr lang="en-US" sz="32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 là mô hình nhất quán nhất với chỉ số Recall dẫn đầu</a:t>
            </a:r>
            <a:endParaRPr lang="en-US" sz="32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37"/>
            <a:ext cx="15208438" cy="63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SO SÁNH KẾT QUẢ RAGAS GIỮA CÁC CẤU HÌNH TRUY XUẤT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16753" y="9540321"/>
            <a:ext cx="536905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20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2155685" y="1701433"/>
            <a:ext cx="13976630" cy="6254542"/>
          </a:xfrm>
          <a:custGeom>
            <a:avLst/>
            <a:gdLst/>
            <a:ahLst/>
            <a:cxnLst/>
            <a:rect l="l" t="t" r="r" b="b"/>
            <a:pathLst>
              <a:path w="13976630" h="6254542">
                <a:moveTo>
                  <a:pt x="0" y="0"/>
                </a:moveTo>
                <a:lnTo>
                  <a:pt x="13976630" y="0"/>
                </a:lnTo>
                <a:lnTo>
                  <a:pt x="13976630" y="6254542"/>
                </a:lnTo>
                <a:lnTo>
                  <a:pt x="0" y="6254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372779" y="8462271"/>
            <a:ext cx="11542441" cy="71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GraphRAG dẫn đầu về độ chính xác, trong khi Hybrid+ tối ưu hóa sự phù hợp nhờ kết hợp hiệu quả thông tin thâm niên và kết nối</a:t>
            </a:r>
            <a:endParaRPr lang="en-US" sz="26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925266" y="1735813"/>
            <a:ext cx="12437468" cy="7471403"/>
          </a:xfrm>
          <a:custGeom>
            <a:avLst/>
            <a:gdLst/>
            <a:ahLst/>
            <a:cxnLst/>
            <a:rect l="l" t="t" r="r" b="b"/>
            <a:pathLst>
              <a:path w="12437468" h="7471403">
                <a:moveTo>
                  <a:pt x="0" y="0"/>
                </a:moveTo>
                <a:lnTo>
                  <a:pt x="12437468" y="0"/>
                </a:lnTo>
                <a:lnTo>
                  <a:pt x="12437468" y="7471403"/>
                </a:lnTo>
                <a:lnTo>
                  <a:pt x="0" y="7471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3" t="-1553" b="-5947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728980" y="585470"/>
            <a:ext cx="10259695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GIAO DIỆN TÌM KIẾM ỨNG VIÊN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377969" y="9540321"/>
            <a:ext cx="414472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21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949931" y="1865488"/>
            <a:ext cx="14388137" cy="7212054"/>
          </a:xfrm>
          <a:custGeom>
            <a:avLst/>
            <a:gdLst/>
            <a:ahLst/>
            <a:cxnLst/>
            <a:rect l="l" t="t" r="r" b="b"/>
            <a:pathLst>
              <a:path w="14388137" h="7212054">
                <a:moveTo>
                  <a:pt x="0" y="0"/>
                </a:moveTo>
                <a:lnTo>
                  <a:pt x="14388138" y="0"/>
                </a:lnTo>
                <a:lnTo>
                  <a:pt x="14388138" y="7212054"/>
                </a:lnTo>
                <a:lnTo>
                  <a:pt x="0" y="72120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4871598" y="3761475"/>
            <a:ext cx="729679" cy="257967"/>
          </a:xfrm>
          <a:custGeom>
            <a:avLst/>
            <a:gdLst/>
            <a:ahLst/>
            <a:cxnLst/>
            <a:rect l="l" t="t" r="r" b="b"/>
            <a:pathLst>
              <a:path w="729679" h="257967">
                <a:moveTo>
                  <a:pt x="0" y="0"/>
                </a:moveTo>
                <a:lnTo>
                  <a:pt x="729679" y="0"/>
                </a:lnTo>
                <a:lnTo>
                  <a:pt x="729679" y="257967"/>
                </a:lnTo>
                <a:lnTo>
                  <a:pt x="0" y="2579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28980" y="585470"/>
            <a:ext cx="7870190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GIAO DIỆN PHỎNG VẤN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323914" y="9540321"/>
            <a:ext cx="522583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22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623347" y="1644912"/>
            <a:ext cx="11041307" cy="7613388"/>
          </a:xfrm>
          <a:custGeom>
            <a:avLst/>
            <a:gdLst/>
            <a:ahLst/>
            <a:cxnLst/>
            <a:rect l="l" t="t" r="r" b="b"/>
            <a:pathLst>
              <a:path w="11041307" h="7613388">
                <a:moveTo>
                  <a:pt x="0" y="0"/>
                </a:moveTo>
                <a:lnTo>
                  <a:pt x="11041306" y="0"/>
                </a:lnTo>
                <a:lnTo>
                  <a:pt x="11041306" y="7613388"/>
                </a:lnTo>
                <a:lnTo>
                  <a:pt x="0" y="7613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728980" y="585470"/>
            <a:ext cx="6236335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1F5CA9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ĐỒ THỊ QUAN HỆ</a:t>
            </a:r>
            <a:endParaRPr lang="en-US" sz="4200">
              <a:solidFill>
                <a:srgbClr val="1F5CA9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316753" y="9540321"/>
            <a:ext cx="536905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20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37"/>
            <a:ext cx="115013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NỘI DUNG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3734392" y="3820742"/>
            <a:ext cx="10819215" cy="2645516"/>
            <a:chOff x="0" y="0"/>
            <a:chExt cx="14425620" cy="3527355"/>
          </a:xfrm>
        </p:grpSpPr>
        <p:sp>
          <p:nvSpPr>
            <p:cNvPr id="6" name="AutoShape 6"/>
            <p:cNvSpPr/>
            <p:nvPr/>
          </p:nvSpPr>
          <p:spPr>
            <a:xfrm>
              <a:off x="1982398" y="3501955"/>
              <a:ext cx="5700244" cy="0"/>
            </a:xfrm>
            <a:prstGeom prst="line">
              <a:avLst/>
            </a:prstGeom>
            <a:ln w="50800" cap="flat">
              <a:solidFill>
                <a:srgbClr val="1F5CA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0" y="0"/>
              <a:ext cx="1306615" cy="1656772"/>
              <a:chOff x="0" y="0"/>
              <a:chExt cx="251645" cy="31908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51645" cy="319083"/>
              </a:xfrm>
              <a:custGeom>
                <a:avLst/>
                <a:gdLst/>
                <a:ahLst/>
                <a:cxnLst/>
                <a:rect l="l" t="t" r="r" b="b"/>
                <a:pathLst>
                  <a:path w="251645" h="319083">
                    <a:moveTo>
                      <a:pt x="125822" y="0"/>
                    </a:moveTo>
                    <a:lnTo>
                      <a:pt x="125822" y="0"/>
                    </a:lnTo>
                    <a:cubicBezTo>
                      <a:pt x="195312" y="0"/>
                      <a:pt x="251645" y="56333"/>
                      <a:pt x="251645" y="125822"/>
                    </a:cubicBezTo>
                    <a:lnTo>
                      <a:pt x="251645" y="193260"/>
                    </a:lnTo>
                    <a:cubicBezTo>
                      <a:pt x="251645" y="262750"/>
                      <a:pt x="195312" y="319083"/>
                      <a:pt x="125822" y="319083"/>
                    </a:cubicBezTo>
                    <a:lnTo>
                      <a:pt x="125822" y="319083"/>
                    </a:lnTo>
                    <a:cubicBezTo>
                      <a:pt x="92452" y="319083"/>
                      <a:pt x="60449" y="305826"/>
                      <a:pt x="36853" y="282230"/>
                    </a:cubicBezTo>
                    <a:cubicBezTo>
                      <a:pt x="13256" y="258634"/>
                      <a:pt x="0" y="226630"/>
                      <a:pt x="0" y="193260"/>
                    </a:cubicBezTo>
                    <a:lnTo>
                      <a:pt x="0" y="125822"/>
                    </a:lnTo>
                    <a:cubicBezTo>
                      <a:pt x="0" y="92452"/>
                      <a:pt x="13256" y="60449"/>
                      <a:pt x="36853" y="36853"/>
                    </a:cubicBezTo>
                    <a:cubicBezTo>
                      <a:pt x="60449" y="13256"/>
                      <a:pt x="92452" y="0"/>
                      <a:pt x="125822" y="0"/>
                    </a:cubicBezTo>
                    <a:close/>
                  </a:path>
                </a:pathLst>
              </a:custGeom>
              <a:solidFill>
                <a:srgbClr val="1F5CAA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251645" cy="4143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800"/>
                  </a:lnSpc>
                </a:p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08097" y="-209550"/>
              <a:ext cx="690422" cy="167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00"/>
                </a:lnSpc>
              </a:pPr>
              <a:r>
                <a:rPr lang="en-US" sz="7200" b="1" spc="72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6</a:t>
              </a:r>
              <a:endParaRPr lang="en-US" sz="7200" b="1" spc="7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82398" y="-198698"/>
              <a:ext cx="12443222" cy="3501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7200" b="1" spc="72">
                  <a:solidFill>
                    <a:srgbClr val="1A152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KẾT LUẬN VÀ </a:t>
              </a:r>
              <a:endParaRPr lang="en-US" sz="7200" b="1" spc="72">
                <a:solidFill>
                  <a:srgbClr val="1A152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  <a:p>
              <a:pPr algn="l">
                <a:lnSpc>
                  <a:spcPts val="10800"/>
                </a:lnSpc>
              </a:pPr>
              <a:r>
                <a:rPr lang="en-US" sz="7200" b="1" spc="72">
                  <a:solidFill>
                    <a:srgbClr val="1A152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HƯỚNG PHÁT TRIỂN </a:t>
              </a:r>
              <a:endParaRPr lang="en-US" sz="7200" b="1" spc="72">
                <a:solidFill>
                  <a:srgbClr val="1A152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323914" y="9540321"/>
            <a:ext cx="522583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25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37"/>
            <a:ext cx="5298877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KẾT QUẢ ĐẠT ĐƯỢC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18578" y="9540321"/>
            <a:ext cx="533254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26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668086" y="7161749"/>
            <a:ext cx="12262020" cy="25468"/>
          </a:xfrm>
          <a:prstGeom prst="line">
            <a:avLst/>
          </a:pr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647453" y="2134309"/>
            <a:ext cx="12755171" cy="152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5"/>
              </a:lnSpc>
              <a:spcBef>
                <a:spcPct val="0"/>
              </a:spcBef>
            </a:pPr>
            <a:r>
              <a:rPr lang="en-US" sz="3395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Kiến trúc lưu trữ dữ liệu song song:</a:t>
            </a:r>
            <a:endParaRPr lang="en-US" sz="3395" b="1">
              <a:solidFill>
                <a:srgbClr val="000000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l">
              <a:lnSpc>
                <a:spcPts val="4075"/>
              </a:lnSpc>
              <a:spcBef>
                <a:spcPct val="0"/>
              </a:spcBef>
            </a:pPr>
            <a:r>
              <a:rPr lang="en-US" sz="3395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Phân tách vật lý dữ liệu Công khai (Neo4j) &amp; Riêng tư (Supabase).</a:t>
            </a:r>
            <a:endParaRPr lang="en-US" sz="3395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  <a:p>
            <a:pPr algn="l">
              <a:lnSpc>
                <a:spcPts val="4075"/>
              </a:lnSpc>
              <a:spcBef>
                <a:spcPct val="0"/>
              </a:spcBef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1647453" y="3850239"/>
            <a:ext cx="14851475" cy="205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Bộ máy tìm kiếm ứng viên</a:t>
            </a:r>
            <a:r>
              <a:rPr lang="en-US" sz="3400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:</a:t>
            </a:r>
            <a:endParaRPr lang="en-US" sz="3400" b="1">
              <a:solidFill>
                <a:srgbClr val="000000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Tích hợp tín hiệu Vector &amp; Cấu trúc đồ thị.</a:t>
            </a:r>
            <a:endParaRPr lang="en-US" sz="34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Hiệu suất truy xuất vượt trội: Recall@5 đạt 0.9722 (GTE-multilingual-base).</a:t>
            </a:r>
            <a:endParaRPr lang="en-US" sz="34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Cung cấp lý giải AI có thể truy vết về nguồn gốc.</a:t>
            </a:r>
            <a:endParaRPr lang="en-US" sz="34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47453" y="6821949"/>
            <a:ext cx="13394307" cy="1542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Bản sao số của ứng viên:</a:t>
            </a:r>
            <a:endParaRPr lang="en-US" sz="3400" b="1">
              <a:solidFill>
                <a:srgbClr val="000000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Tự động hóa phỏng vấn sơ bộ 24/24.</a:t>
            </a:r>
            <a:endParaRPr lang="en-US" sz="34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Đảm bảo tính trung thực (Faithfulness: 0.8803) và bám sát hồ sơ gốc.</a:t>
            </a:r>
            <a:endParaRPr lang="en-US" sz="34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37"/>
            <a:ext cx="5215682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HƯỚNG PHÁT TRIỂN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28758" y="9540321"/>
            <a:ext cx="512895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27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2332742"/>
            <a:ext cx="12304340" cy="154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Mở rộng Suy luận Đa bước:</a:t>
            </a:r>
            <a:endParaRPr lang="en-US" sz="3400" b="1">
              <a:solidFill>
                <a:srgbClr val="000000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Đánh giá "độ phù hợp văn hóa" thông qua phân tích mạng lưới liên kết gián tiếp (đồng nghiệp chung, lịch sử dự án).</a:t>
            </a:r>
            <a:endParaRPr lang="en-US" sz="34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4477605"/>
            <a:ext cx="12079988" cy="154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Nhúng Đồ thị Động (Graph Neural Networks - GNN):</a:t>
            </a:r>
            <a:endParaRPr lang="en-US" sz="3400" b="1">
              <a:solidFill>
                <a:srgbClr val="000000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Cập nhật vector thời gian thực theo sự thay đổi của cấu trúc đồ thị mà không cần re-index lại toàn bộ.</a:t>
            </a:r>
            <a:endParaRPr lang="en-US" sz="34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700" y="6620579"/>
            <a:ext cx="13556839" cy="154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000000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Mô hình Phản biện Đa tác tử (Agentic Debate):</a:t>
            </a:r>
            <a:endParaRPr lang="en-US" sz="3400" b="1">
              <a:solidFill>
                <a:srgbClr val="000000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Nâng cấp từ hỏi-đáp đơn lượt sang "Hội đồng AI phản biện".</a:t>
            </a:r>
            <a:endParaRPr lang="en-US" sz="34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Kiểm chứng sâu sắc và đa chiều hơn năng lực thực chiến của ứng viên.</a:t>
            </a:r>
            <a:endParaRPr lang="en-US" sz="3400">
              <a:solidFill>
                <a:srgbClr val="000000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9125" y="585537"/>
            <a:ext cx="115013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NỘI DUNG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4464733" y="4466836"/>
            <a:ext cx="9358534" cy="1353329"/>
            <a:chOff x="0" y="0"/>
            <a:chExt cx="12478046" cy="1804438"/>
          </a:xfrm>
        </p:grpSpPr>
        <p:sp>
          <p:nvSpPr>
            <p:cNvPr id="6" name="AutoShape 6"/>
            <p:cNvSpPr/>
            <p:nvPr/>
          </p:nvSpPr>
          <p:spPr>
            <a:xfrm>
              <a:off x="1938038" y="1779038"/>
              <a:ext cx="5700244" cy="0"/>
            </a:xfrm>
            <a:prstGeom prst="line">
              <a:avLst/>
            </a:prstGeom>
            <a:ln w="50800" cap="flat">
              <a:solidFill>
                <a:srgbClr val="1F5CAA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0" y="0"/>
              <a:ext cx="1306615" cy="1656772"/>
              <a:chOff x="0" y="0"/>
              <a:chExt cx="251645" cy="31908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51645" cy="319083"/>
              </a:xfrm>
              <a:custGeom>
                <a:avLst/>
                <a:gdLst/>
                <a:ahLst/>
                <a:cxnLst/>
                <a:rect l="l" t="t" r="r" b="b"/>
                <a:pathLst>
                  <a:path w="251645" h="319083">
                    <a:moveTo>
                      <a:pt x="125822" y="0"/>
                    </a:moveTo>
                    <a:lnTo>
                      <a:pt x="125822" y="0"/>
                    </a:lnTo>
                    <a:cubicBezTo>
                      <a:pt x="195312" y="0"/>
                      <a:pt x="251645" y="56333"/>
                      <a:pt x="251645" y="125822"/>
                    </a:cubicBezTo>
                    <a:lnTo>
                      <a:pt x="251645" y="193260"/>
                    </a:lnTo>
                    <a:cubicBezTo>
                      <a:pt x="251645" y="262750"/>
                      <a:pt x="195312" y="319083"/>
                      <a:pt x="125822" y="319083"/>
                    </a:cubicBezTo>
                    <a:lnTo>
                      <a:pt x="125822" y="319083"/>
                    </a:lnTo>
                    <a:cubicBezTo>
                      <a:pt x="92452" y="319083"/>
                      <a:pt x="60449" y="305826"/>
                      <a:pt x="36853" y="282230"/>
                    </a:cubicBezTo>
                    <a:cubicBezTo>
                      <a:pt x="13256" y="258634"/>
                      <a:pt x="0" y="226630"/>
                      <a:pt x="0" y="193260"/>
                    </a:cubicBezTo>
                    <a:lnTo>
                      <a:pt x="0" y="125822"/>
                    </a:lnTo>
                    <a:cubicBezTo>
                      <a:pt x="0" y="92452"/>
                      <a:pt x="13256" y="60449"/>
                      <a:pt x="36853" y="36853"/>
                    </a:cubicBezTo>
                    <a:cubicBezTo>
                      <a:pt x="60449" y="13256"/>
                      <a:pt x="92452" y="0"/>
                      <a:pt x="125822" y="0"/>
                    </a:cubicBezTo>
                    <a:close/>
                  </a:path>
                </a:pathLst>
              </a:custGeom>
              <a:solidFill>
                <a:srgbClr val="1F5CAA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95250"/>
                <a:ext cx="251645" cy="4143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800"/>
                  </a:lnSpc>
                </a:p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08097" y="-209550"/>
              <a:ext cx="690422" cy="167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00"/>
                </a:lnSpc>
              </a:pPr>
              <a:r>
                <a:rPr lang="en-US" sz="7200" b="1" spc="72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5</a:t>
              </a:r>
              <a:endParaRPr lang="en-US" sz="7200" b="1" spc="7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8038" y="-112684"/>
              <a:ext cx="10540008" cy="167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7200" b="1" spc="72">
                  <a:solidFill>
                    <a:srgbClr val="1A1526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DEMO ỨNG DỤNG </a:t>
              </a:r>
              <a:endParaRPr lang="en-US" sz="7200" b="1" spc="72">
                <a:solidFill>
                  <a:srgbClr val="1A1526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321457" y="9540321"/>
            <a:ext cx="527497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23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9125" y="1435362"/>
            <a:ext cx="16673372" cy="0"/>
          </a:xfrm>
          <a:prstGeom prst="line">
            <a:avLst/>
          </a:prstGeom>
          <a:ln w="38100" cap="flat">
            <a:solidFill>
              <a:srgbClr val="1F5CA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330166" y="151178"/>
            <a:ext cx="1072331" cy="1072534"/>
          </a:xfrm>
          <a:custGeom>
            <a:avLst/>
            <a:gdLst/>
            <a:ahLst/>
            <a:cxnLst/>
            <a:rect l="l" t="t" r="r" b="b"/>
            <a:pathLst>
              <a:path w="1072331" h="1072534">
                <a:moveTo>
                  <a:pt x="0" y="0"/>
                </a:moveTo>
                <a:lnTo>
                  <a:pt x="1072331" y="0"/>
                </a:lnTo>
                <a:lnTo>
                  <a:pt x="1072331" y="1072534"/>
                </a:lnTo>
                <a:lnTo>
                  <a:pt x="0" y="107253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-489767" y="9488618"/>
            <a:ext cx="19267533" cy="2103083"/>
            <a:chOff x="0" y="0"/>
            <a:chExt cx="5538410" cy="604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8410" cy="604527"/>
            </a:xfrm>
            <a:custGeom>
              <a:avLst/>
              <a:gdLst/>
              <a:ahLst/>
              <a:cxnLst/>
              <a:rect l="l" t="t" r="r" b="b"/>
              <a:pathLst>
                <a:path w="5538410" h="604527">
                  <a:moveTo>
                    <a:pt x="0" y="0"/>
                  </a:moveTo>
                  <a:lnTo>
                    <a:pt x="5538410" y="0"/>
                  </a:lnTo>
                  <a:lnTo>
                    <a:pt x="5538410" y="604527"/>
                  </a:lnTo>
                  <a:lnTo>
                    <a:pt x="0" y="604527"/>
                  </a:lnTo>
                  <a:close/>
                </a:path>
              </a:pathLst>
            </a:custGeom>
            <a:solidFill>
              <a:srgbClr val="1F5CA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38410" cy="65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3884265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957033" y="3265839"/>
            <a:ext cx="7609684" cy="3755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</a:ln>
        </p:spPr>
      </p:pic>
      <p:pic>
        <p:nvPicPr>
          <p:cNvPr id="12" name="Picture 1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rcRect/>
          <a:stretch>
            <a:fillRect/>
          </a:stretch>
        </p:blipFill>
        <p:spPr>
          <a:xfrm>
            <a:off x="9306364" y="3265839"/>
            <a:ext cx="7952936" cy="3755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</a:ln>
        </p:spPr>
      </p:pic>
      <p:sp>
        <p:nvSpPr>
          <p:cNvPr id="13" name="TextBox 13"/>
          <p:cNvSpPr txBox="1"/>
          <p:nvPr/>
        </p:nvSpPr>
        <p:spPr>
          <a:xfrm>
            <a:off x="729125" y="585537"/>
            <a:ext cx="4399062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DEMO ỨNG DỤNG</a:t>
            </a:r>
            <a:endParaRPr lang="en-US" sz="4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896446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319631" y="9540321"/>
            <a:ext cx="531148" cy="58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32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24</a:t>
            </a:r>
            <a:endParaRPr lang="en-US" sz="3200" b="1" spc="32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145958" y="7655583"/>
            <a:ext cx="4467764" cy="48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Nạp CV và đặt lịch rảnh</a:t>
            </a:r>
            <a:endParaRPr lang="en-US" sz="3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75117" y="7412684"/>
            <a:ext cx="4415429" cy="97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1F5CA9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Tìm kiếm ứng viên + Phỏng vấn + Đặt lịch</a:t>
            </a:r>
            <a:endParaRPr lang="en-US" sz="3200" b="1">
              <a:solidFill>
                <a:srgbClr val="1F5CA9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100000">
                <p:cTn id="3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96765" y="1142907"/>
            <a:ext cx="3494470" cy="3495132"/>
          </a:xfrm>
          <a:custGeom>
            <a:avLst/>
            <a:gdLst/>
            <a:ahLst/>
            <a:cxnLst/>
            <a:rect l="l" t="t" r="r" b="b"/>
            <a:pathLst>
              <a:path w="3494470" h="3495132">
                <a:moveTo>
                  <a:pt x="0" y="0"/>
                </a:moveTo>
                <a:lnTo>
                  <a:pt x="3494470" y="0"/>
                </a:lnTo>
                <a:lnTo>
                  <a:pt x="3494470" y="3495132"/>
                </a:lnTo>
                <a:lnTo>
                  <a:pt x="0" y="34951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27ACE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6341367" y="3658019"/>
            <a:ext cx="1347845" cy="1347845"/>
          </a:xfrm>
          <a:custGeom>
            <a:avLst/>
            <a:gdLst/>
            <a:ahLst/>
            <a:cxnLst/>
            <a:rect l="l" t="t" r="r" b="b"/>
            <a:pathLst>
              <a:path w="1347845" h="1347845">
                <a:moveTo>
                  <a:pt x="0" y="0"/>
                </a:moveTo>
                <a:lnTo>
                  <a:pt x="1347845" y="0"/>
                </a:lnTo>
                <a:lnTo>
                  <a:pt x="1347845" y="1347845"/>
                </a:lnTo>
                <a:lnTo>
                  <a:pt x="0" y="1347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41367" y="5115628"/>
            <a:ext cx="1347845" cy="1347845"/>
          </a:xfrm>
          <a:custGeom>
            <a:avLst/>
            <a:gdLst/>
            <a:ahLst/>
            <a:cxnLst/>
            <a:rect l="l" t="t" r="r" b="b"/>
            <a:pathLst>
              <a:path w="1347845" h="1347845">
                <a:moveTo>
                  <a:pt x="0" y="0"/>
                </a:moveTo>
                <a:lnTo>
                  <a:pt x="1347845" y="0"/>
                </a:lnTo>
                <a:lnTo>
                  <a:pt x="1347845" y="1347845"/>
                </a:lnTo>
                <a:lnTo>
                  <a:pt x="0" y="1347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0" name="Freeform 10"/>
          <p:cNvSpPr/>
          <p:nvPr/>
        </p:nvSpPr>
        <p:spPr>
          <a:xfrm rot="5400000">
            <a:off x="526019" y="1645588"/>
            <a:ext cx="1570879" cy="565516"/>
          </a:xfrm>
          <a:custGeom>
            <a:avLst/>
            <a:gdLst/>
            <a:ahLst/>
            <a:cxnLst/>
            <a:rect l="l" t="t" r="r" b="b"/>
            <a:pathLst>
              <a:path w="1570879" h="565516">
                <a:moveTo>
                  <a:pt x="0" y="0"/>
                </a:moveTo>
                <a:lnTo>
                  <a:pt x="1570879" y="0"/>
                </a:lnTo>
                <a:lnTo>
                  <a:pt x="1570879" y="565517"/>
                </a:lnTo>
                <a:lnTo>
                  <a:pt x="0" y="565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23794" y="5451332"/>
            <a:ext cx="14751619" cy="1012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 b="1" spc="177">
                <a:solidFill>
                  <a:srgbClr val="EDE70E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Cám ơn thầy cô và các bạn đã lắng nghe!</a:t>
            </a:r>
            <a:endParaRPr lang="en-US" sz="5900" b="1" spc="177">
              <a:solidFill>
                <a:srgbClr val="EDE70E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4010119" y="9917428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6" y="0"/>
                </a:lnTo>
                <a:lnTo>
                  <a:pt x="10842696" y="54214"/>
                </a:lnTo>
                <a:lnTo>
                  <a:pt x="0" y="54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140103" y="9747480"/>
            <a:ext cx="2070621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1850061" y="633531"/>
            <a:ext cx="6437939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82284" y="596065"/>
            <a:ext cx="2136366" cy="2136771"/>
          </a:xfrm>
          <a:custGeom>
            <a:avLst/>
            <a:gdLst/>
            <a:ahLst/>
            <a:cxnLst/>
            <a:rect l="l" t="t" r="r" b="b"/>
            <a:pathLst>
              <a:path w="2136366" h="2136771">
                <a:moveTo>
                  <a:pt x="0" y="0"/>
                </a:moveTo>
                <a:lnTo>
                  <a:pt x="2136366" y="0"/>
                </a:lnTo>
                <a:lnTo>
                  <a:pt x="2136366" y="2136771"/>
                </a:lnTo>
                <a:lnTo>
                  <a:pt x="0" y="213677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37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238725" y="9711788"/>
            <a:ext cx="980800" cy="447675"/>
            <a:chOff x="0" y="0"/>
            <a:chExt cx="1307734" cy="596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7719" cy="596900"/>
            </a:xfrm>
            <a:custGeom>
              <a:avLst/>
              <a:gdLst/>
              <a:ahLst/>
              <a:cxnLst/>
              <a:rect l="l" t="t" r="r" b="b"/>
              <a:pathLst>
                <a:path w="1307719" h="596900">
                  <a:moveTo>
                    <a:pt x="0" y="0"/>
                  </a:moveTo>
                  <a:lnTo>
                    <a:pt x="1307719" y="0"/>
                  </a:lnTo>
                  <a:lnTo>
                    <a:pt x="1307719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27ACE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307734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K2D Bold" panose="00000800000000000000"/>
                  <a:ea typeface="K2D Bold" panose="00000800000000000000"/>
                  <a:cs typeface="K2D Bold" panose="00000800000000000000"/>
                  <a:sym typeface="K2D Bold" panose="00000800000000000000"/>
                </a:rPr>
                <a:t>CTU</a:t>
              </a:r>
              <a:endParaRPr lang="en-US" sz="27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7604547" y="4660459"/>
            <a:ext cx="3291840" cy="47625"/>
            <a:chOff x="0" y="0"/>
            <a:chExt cx="4389120" cy="63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63500"/>
            </a:xfrm>
            <a:custGeom>
              <a:avLst/>
              <a:gdLst/>
              <a:ahLst/>
              <a:cxnLst/>
              <a:rect l="l" t="t" r="r" b="b"/>
              <a:pathLst>
                <a:path w="4389120" h="63500">
                  <a:moveTo>
                    <a:pt x="0" y="0"/>
                  </a:moveTo>
                  <a:lnTo>
                    <a:pt x="4389120" y="0"/>
                  </a:lnTo>
                  <a:lnTo>
                    <a:pt x="438912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17614077" y="1773383"/>
            <a:ext cx="1347845" cy="2805454"/>
            <a:chOff x="0" y="0"/>
            <a:chExt cx="1797127" cy="3740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97127" cy="1797127"/>
            </a:xfrm>
            <a:custGeom>
              <a:avLst/>
              <a:gdLst/>
              <a:ahLst/>
              <a:cxnLst/>
              <a:rect l="l" t="t" r="r" b="b"/>
              <a:pathLst>
                <a:path w="1797127" h="1797127">
                  <a:moveTo>
                    <a:pt x="0" y="0"/>
                  </a:moveTo>
                  <a:lnTo>
                    <a:pt x="1797127" y="0"/>
                  </a:lnTo>
                  <a:lnTo>
                    <a:pt x="1797127" y="1797127"/>
                  </a:lnTo>
                  <a:lnTo>
                    <a:pt x="0" y="179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1943479"/>
              <a:ext cx="1797127" cy="1797127"/>
            </a:xfrm>
            <a:custGeom>
              <a:avLst/>
              <a:gdLst/>
              <a:ahLst/>
              <a:cxnLst/>
              <a:rect l="l" t="t" r="r" b="b"/>
              <a:pathLst>
                <a:path w="1797127" h="1797127">
                  <a:moveTo>
                    <a:pt x="0" y="0"/>
                  </a:moveTo>
                  <a:lnTo>
                    <a:pt x="1797127" y="0"/>
                  </a:lnTo>
                  <a:lnTo>
                    <a:pt x="1797127" y="1797127"/>
                  </a:lnTo>
                  <a:lnTo>
                    <a:pt x="0" y="179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317968" y="9925485"/>
            <a:ext cx="2700499" cy="25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Cộng đồng – Toàn diện – Ưu việt</a:t>
            </a:r>
            <a:endParaRPr lang="en-US" sz="1200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17968" y="9662016"/>
            <a:ext cx="3957850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ĐẠI HỌC CẦN THƠ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885834" y="9847129"/>
            <a:ext cx="2041767" cy="37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www.ctu.edu.vn</a:t>
            </a:r>
            <a:endParaRPr lang="en-US" sz="2100" b="1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344035" y="3109595"/>
            <a:ext cx="11228705" cy="68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BÁO CÁO LUẬN VĂN TỐT NGHIỆP ĐẠI HỌC</a:t>
            </a:r>
            <a:endParaRPr lang="en-US" sz="3800">
              <a:solidFill>
                <a:srgbClr val="FFFFFF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19625" y="3756025"/>
            <a:ext cx="8283575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 spc="-63">
                <a:solidFill>
                  <a:srgbClr val="FF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Ngành Khoa học máy tính</a:t>
            </a:r>
            <a:endParaRPr lang="en-US" sz="4200" b="1" spc="-63">
              <a:solidFill>
                <a:srgbClr val="FF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5310894"/>
            <a:ext cx="16331783" cy="19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sz="4300" b="1" spc="107">
                <a:solidFill>
                  <a:srgbClr val="EDE70E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ORCHGRAPH-RAG: MÔ HÌNH ĐA TÁC TỬ ĐIỀU PHỐI BẰNG ĐỒ THỊ CHO TUYỂN DỤNG THÔNG MINH VÀ TRUY XUẤT </a:t>
            </a:r>
            <a:endParaRPr lang="en-US" sz="4300" b="1" spc="107">
              <a:solidFill>
                <a:srgbClr val="EDE70E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ctr">
              <a:lnSpc>
                <a:spcPts val="5160"/>
              </a:lnSpc>
            </a:pPr>
            <a:r>
              <a:rPr lang="en-US" sz="4300" b="1" spc="107">
                <a:solidFill>
                  <a:srgbClr val="EDE70E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TRI THỨC CÁ NHÂN HÓA</a:t>
            </a:r>
            <a:endParaRPr lang="en-US" sz="4300" b="1" spc="107">
              <a:solidFill>
                <a:srgbClr val="EDE70E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943000" y="8006295"/>
            <a:ext cx="418004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CCFFF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Giảng viên hướng dẫn: </a:t>
            </a:r>
            <a:endParaRPr lang="en-US" sz="3200">
              <a:solidFill>
                <a:srgbClr val="CCFFFF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CC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TS. Mã Trường Thành</a:t>
            </a:r>
            <a:r>
              <a:rPr lang="en-US" sz="3200">
                <a:solidFill>
                  <a:srgbClr val="CCFFF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 </a:t>
            </a:r>
            <a:endParaRPr lang="en-US" sz="3200">
              <a:solidFill>
                <a:srgbClr val="CCFFFF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</p:txBody>
      </p:sp>
      <p:sp>
        <p:nvSpPr>
          <p:cNvPr id="18" name="Freeform 18"/>
          <p:cNvSpPr/>
          <p:nvPr/>
        </p:nvSpPr>
        <p:spPr>
          <a:xfrm rot="5400000">
            <a:off x="526019" y="1645588"/>
            <a:ext cx="1570879" cy="565516"/>
          </a:xfrm>
          <a:custGeom>
            <a:avLst/>
            <a:gdLst/>
            <a:ahLst/>
            <a:cxnLst/>
            <a:rect l="l" t="t" r="r" b="b"/>
            <a:pathLst>
              <a:path w="1570879" h="565516">
                <a:moveTo>
                  <a:pt x="0" y="0"/>
                </a:moveTo>
                <a:lnTo>
                  <a:pt x="1570879" y="0"/>
                </a:lnTo>
                <a:lnTo>
                  <a:pt x="1570879" y="565517"/>
                </a:lnTo>
                <a:lnTo>
                  <a:pt x="0" y="565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018467" y="9935625"/>
            <a:ext cx="10842695" cy="54213"/>
          </a:xfrm>
          <a:custGeom>
            <a:avLst/>
            <a:gdLst/>
            <a:ahLst/>
            <a:cxnLst/>
            <a:rect l="l" t="t" r="r" b="b"/>
            <a:pathLst>
              <a:path w="10842695" h="54213">
                <a:moveTo>
                  <a:pt x="0" y="0"/>
                </a:moveTo>
                <a:lnTo>
                  <a:pt x="10842695" y="0"/>
                </a:lnTo>
                <a:lnTo>
                  <a:pt x="10842695" y="54213"/>
                </a:lnTo>
                <a:lnTo>
                  <a:pt x="0" y="54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>
            <a:off x="11850061" y="825360"/>
            <a:ext cx="6437939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12456661" y="7987368"/>
            <a:ext cx="4633609" cy="1561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CCFFFF"/>
                </a:solidFill>
                <a:latin typeface="K2D" panose="00000500000000000000"/>
                <a:ea typeface="K2D" panose="00000500000000000000"/>
                <a:cs typeface="K2D" panose="00000500000000000000"/>
                <a:sym typeface="K2D" panose="00000500000000000000"/>
              </a:rPr>
              <a:t>Sinh viên thực hiện: </a:t>
            </a:r>
            <a:endParaRPr lang="en-US" sz="2600">
              <a:solidFill>
                <a:srgbClr val="CCFFFF"/>
              </a:solidFill>
              <a:latin typeface="K2D" panose="00000500000000000000"/>
              <a:ea typeface="K2D" panose="00000500000000000000"/>
              <a:cs typeface="K2D" panose="00000500000000000000"/>
              <a:sym typeface="K2D" panose="00000500000000000000"/>
            </a:endParaRPr>
          </a:p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CC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Họ và tên: Trần Thị Hồng Ngọc</a:t>
            </a:r>
            <a:endParaRPr lang="en-US" sz="2600" b="1">
              <a:solidFill>
                <a:srgbClr val="CC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CC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MSSV: B2207546</a:t>
            </a:r>
            <a:endParaRPr lang="en-US" sz="2600" b="1">
              <a:solidFill>
                <a:srgbClr val="CC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CCFFFF"/>
                </a:solidFill>
                <a:latin typeface="K2D Bold" panose="00000800000000000000"/>
                <a:ea typeface="K2D Bold" panose="00000800000000000000"/>
                <a:cs typeface="K2D Bold" panose="00000800000000000000"/>
                <a:sym typeface="K2D Bold" panose="00000800000000000000"/>
              </a:rPr>
              <a:t>Khóa: 48</a:t>
            </a:r>
            <a:endParaRPr lang="en-US" sz="2600" b="1">
              <a:solidFill>
                <a:srgbClr val="CCFFFF"/>
              </a:solidFill>
              <a:latin typeface="K2D Bold" panose="00000800000000000000"/>
              <a:ea typeface="K2D Bold" panose="00000800000000000000"/>
              <a:cs typeface="K2D Bold" panose="00000800000000000000"/>
              <a:sym typeface="K2D Bold" panose="0000080000000000000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5741</Words>
  <Application>WPS Presentation</Application>
  <PresentationFormat>On-screen Show (4:3)</PresentationFormat>
  <Paragraphs>574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8" baseType="lpstr">
      <vt:lpstr>Arial</vt:lpstr>
      <vt:lpstr>SimSun</vt:lpstr>
      <vt:lpstr>Wingdings</vt:lpstr>
      <vt:lpstr>K2D Bold</vt:lpstr>
      <vt:lpstr>Arimo</vt:lpstr>
      <vt:lpstr>K2D</vt:lpstr>
      <vt:lpstr>Montserrat Bold</vt:lpstr>
      <vt:lpstr>Noto Sans Bold</vt:lpstr>
      <vt:lpstr>Microsoft YaHei</vt:lpstr>
      <vt:lpstr>Arial Unicode MS</vt:lpstr>
      <vt:lpstr>Calibri</vt:lpstr>
      <vt:lpstr>Montserrat</vt:lpstr>
      <vt:lpstr>Arial</vt:lpstr>
      <vt:lpstr>Calibri</vt:lpstr>
      <vt:lpstr>Office Theme</vt:lpstr>
      <vt:lpstr>Excel.Sheet.12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LuanVanSlide</dc:title>
  <dc:creator/>
  <cp:lastModifiedBy>Ngọc Trần</cp:lastModifiedBy>
  <cp:revision>2</cp:revision>
  <dcterms:created xsi:type="dcterms:W3CDTF">2006-08-16T00:00:00Z</dcterms:created>
  <dcterms:modified xsi:type="dcterms:W3CDTF">2026-04-21T13:56:10Z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F0421155FE1845ACA67DD23CD9267FAA_12</vt:lpwstr>
  </property>
</Properties>
</file>